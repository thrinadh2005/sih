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7" r:id="rId5"/>
    <p:sldId id="294" r:id="rId6"/>
    <p:sldId id="296" r:id="rId7"/>
  </p:sldIdLst>
  <p:sldSz cx="12192000" cy="6858000"/>
  <p:notesSz cx="10234613" cy="1466215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B778854-2F7C-4248-962B-21948857A84D}">
          <p14:sldIdLst>
            <p14:sldId id="291"/>
            <p14:sldId id="281"/>
          </p14:sldIdLst>
        </p14:section>
        <p14:section name="Untitled Section" id="{F3F3FA21-E78E-4439-844C-E6055745B5F7}">
          <p14:sldIdLst>
            <p14:sldId id="290"/>
            <p14:sldId id="297"/>
            <p14:sldId id="294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78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92" y="4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733108"/>
          </a:xfrm>
          <a:prstGeom prst="rect">
            <a:avLst/>
          </a:prstGeom>
        </p:spPr>
        <p:txBody>
          <a:bodyPr vert="horz" lIns="142262" tIns="71131" rIns="142262" bIns="7113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9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6" y="0"/>
            <a:ext cx="4434999" cy="733108"/>
          </a:xfrm>
          <a:prstGeom prst="rect">
            <a:avLst/>
          </a:prstGeom>
        </p:spPr>
        <p:txBody>
          <a:bodyPr vert="horz" wrap="square" lIns="142262" tIns="71131" rIns="142262" bIns="71131" numCol="1" anchor="t" anchorCtr="0" compatLnSpc="1">
            <a:prstTxWarp prst="textNoShape">
              <a:avLst/>
            </a:prstTxWarp>
          </a:bodyPr>
          <a:lstStyle>
            <a:lvl1pPr algn="r">
              <a:defRPr sz="1900"/>
            </a:lvl1pPr>
          </a:lstStyle>
          <a:p>
            <a:fld id="{C4D5ADD5-2BBC-4A94-8F86-D9013941F742}" type="datetimeFigureOut">
              <a:rPr lang="en-US"/>
              <a:pPr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1775" y="1100138"/>
            <a:ext cx="9771063" cy="54975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42262" tIns="71131" rIns="142262" bIns="711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6964521"/>
            <a:ext cx="8187690" cy="6597968"/>
          </a:xfrm>
          <a:prstGeom prst="rect">
            <a:avLst/>
          </a:prstGeom>
        </p:spPr>
        <p:txBody>
          <a:bodyPr vert="horz" lIns="142262" tIns="71131" rIns="142262" bIns="711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926498"/>
            <a:ext cx="4434999" cy="733108"/>
          </a:xfrm>
          <a:prstGeom prst="rect">
            <a:avLst/>
          </a:prstGeom>
        </p:spPr>
        <p:txBody>
          <a:bodyPr vert="horz" lIns="142262" tIns="71131" rIns="142262" bIns="7113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9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6" y="13926498"/>
            <a:ext cx="4434999" cy="733108"/>
          </a:xfrm>
          <a:prstGeom prst="rect">
            <a:avLst/>
          </a:prstGeom>
        </p:spPr>
        <p:txBody>
          <a:bodyPr vert="horz" wrap="square" lIns="142262" tIns="71131" rIns="142262" bIns="71131" numCol="1" anchor="b" anchorCtr="0" compatLnSpc="1">
            <a:prstTxWarp prst="textNoShape">
              <a:avLst/>
            </a:prstTxWarp>
          </a:bodyPr>
          <a:lstStyle>
            <a:lvl1pPr algn="r">
              <a:defRPr sz="19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31775" y="1100138"/>
            <a:ext cx="9771063" cy="54975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31775" y="1100138"/>
            <a:ext cx="9771063" cy="54975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711312">
              <a:defRPr/>
            </a:pPr>
            <a:fld id="{0CA7B74D-3791-4AC6-8451-F10DBCCCDD9A}" type="slidenum">
              <a:rPr lang="en-US">
                <a:solidFill>
                  <a:prstClr val="black"/>
                </a:solidFill>
              </a:rPr>
              <a:pPr defTabSz="711312">
                <a:defRPr/>
              </a:pPr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31775" y="1100138"/>
            <a:ext cx="9771063" cy="54975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711312">
              <a:defRPr/>
            </a:pPr>
            <a:fld id="{0CA7B74D-3791-4AC6-8451-F10DBCCCDD9A}" type="slidenum">
              <a:rPr lang="en-US">
                <a:solidFill>
                  <a:prstClr val="black"/>
                </a:solidFill>
              </a:rPr>
              <a:pPr defTabSz="711312">
                <a:defRPr/>
              </a:pPr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Times New Roman"/>
              </a:defRPr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57200" y="1078992"/>
            <a:ext cx="11274552" cy="548640"/>
          </a:xfrm>
        </p:spPr>
        <p:txBody>
          <a:bodyPr/>
          <a:lstStyle/>
          <a:p>
            <a:pPr algn="ctr">
              <a:defRPr sz="2200" b="1" u="none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 algn="ctr">
              <a:defRPr sz="2800" b="1" u="none">
                <a:solidFill>
                  <a:srgbClr val="0070C0"/>
                </a:solidFill>
                <a:latin typeface="Times New Roman"/>
              </a:defRPr>
            </a:pPr>
            <a:r>
              <a:rPr>
                <a:latin typeface="Times New Roman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6217920" cy="384464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1300"/>
              </a:spcAft>
              <a:defRPr>
                <a:latin typeface="Times New Roman"/>
              </a:defRPr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• Problem Statement ID – 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SIH-26138</a:t>
            </a:r>
            <a:endParaRPr lang="en-US" sz="2000" dirty="0"/>
          </a:p>
          <a:p>
            <a:pPr>
              <a:defRPr>
                <a:latin typeface="Times New Roman"/>
              </a:defRPr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• Problem Statement Title-</a:t>
            </a:r>
          </a:p>
          <a:p>
            <a:pPr>
              <a:spcAft>
                <a:spcPts val="1300"/>
              </a:spcAft>
              <a:defRPr>
                <a:latin typeface="Times New Roman"/>
              </a:defRPr>
            </a:pPr>
            <a:r>
              <a:rPr b="0" dirty="0">
                <a:solidFill>
                  <a:srgbClr val="000000"/>
                </a:solidFill>
                <a:latin typeface="Times New Roman"/>
              </a:rPr>
              <a:t>Dynamic Maritime Decarbonization,
Voyage Speed and Dual-Fuel Optimization
Engine</a:t>
            </a:r>
          </a:p>
          <a:p>
            <a:pPr>
              <a:spcAft>
                <a:spcPts val="1300"/>
              </a:spcAft>
              <a:defRPr>
                <a:latin typeface="Times New Roman"/>
              </a:defRPr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• Theme - 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Clean </a:t>
            </a:r>
            <a:r>
              <a:rPr lang="en-IN" sz="2000" b="0" dirty="0">
                <a:solidFill>
                  <a:srgbClr val="000000"/>
                </a:solidFill>
                <a:latin typeface="Times New Roman"/>
              </a:rPr>
              <a:t>and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Green Technology</a:t>
            </a:r>
          </a:p>
          <a:p>
            <a:pPr>
              <a:spcAft>
                <a:spcPts val="1300"/>
              </a:spcAft>
              <a:defRPr>
                <a:latin typeface="Times New Roman"/>
              </a:defRPr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• PS Category- 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Software</a:t>
            </a:r>
          </a:p>
          <a:p>
            <a:pPr>
              <a:spcAft>
                <a:spcPts val="1300"/>
              </a:spcAft>
              <a:defRPr>
                <a:latin typeface="Times New Roman"/>
              </a:defRPr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• Team ID- 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145834</a:t>
            </a:r>
          </a:p>
          <a:p>
            <a:pPr>
              <a:defRPr>
                <a:latin typeface="Times New Roman"/>
              </a:defRPr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• Team Name –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TeamBuilders</a:t>
            </a: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>
                <a:latin typeface="Times New Roman"/>
              </a:defRPr>
            </a:pPr>
            <a:endParaRPr lang="en-US" sz="2000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74519" y="164592"/>
            <a:ext cx="7772400" cy="731520"/>
          </a:xfrm>
        </p:spPr>
        <p:txBody>
          <a:bodyPr/>
          <a:lstStyle/>
          <a:p>
            <a:pPr algn="l" eaLnBrk="1" hangingPunct="1">
              <a:defRPr sz="2200" b="1" u="none">
                <a:solidFill>
                  <a:srgbClr val="0F1E36"/>
                </a:solidFill>
                <a:latin typeface="Times New Roman"/>
              </a:defRPr>
            </a:pPr>
            <a:r>
              <a:rPr sz="2400" dirty="0">
                <a:latin typeface="Times New Roman"/>
              </a:rPr>
              <a:t>IDEA: GREENFLEET QUANTUM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677C3CE7-23F7-4828-823C-E0205DF2CF97}" type="slidenum">
              <a:rPr lang="en-US" sz="1400" b="1" smtClean="0">
                <a:solidFill>
                  <a:schemeClr val="bg1"/>
                </a:solidFill>
              </a:rPr>
              <a:pPr>
                <a:defRPr>
                  <a:latin typeface="Times New Roman"/>
                </a:defRPr>
              </a:pPr>
              <a:t>2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5486400" cy="365125"/>
          </a:xfrm>
        </p:spPr>
        <p:txBody>
          <a:bodyPr wrap="none" lIns="0" tIns="0" rIns="0" bIns="0"/>
          <a:lstStyle/>
          <a:p>
            <a:pPr algn="l">
              <a:defRPr sz="1000" b="0" u="none">
                <a:solidFill>
                  <a:srgbClr val="FFFFFF"/>
                </a:solidFill>
                <a:latin typeface="Times New Roman"/>
              </a:defRPr>
            </a:pPr>
            <a:r>
              <a:rPr sz="1050">
                <a:latin typeface="Times New Roman"/>
              </a:rPr>
              <a:t>@ GREENFLEET QUANTUM – TEAMBUILDERS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28600" y="164592"/>
            <a:ext cx="1508760" cy="749808"/>
          </a:xfrm>
          <a:prstGeom prst="ellipse">
            <a:avLst/>
          </a:prstGeom>
          <a:solidFill>
            <a:srgbClr val="0F1E36"/>
          </a:solidFill>
          <a:ln w="19050">
            <a:solidFill>
              <a:srgbClr val="FFFFFF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>
              <a:defRPr sz="1350" b="1" u="none">
                <a:solidFill>
                  <a:srgbClr val="FFFFFF"/>
                </a:solidFill>
                <a:latin typeface="Times New Roman"/>
              </a:defRPr>
            </a:pPr>
            <a:r>
              <a:rPr sz="1400">
                <a:latin typeface="Times New Roman"/>
              </a:rPr>
              <a:t>TeamBuilders</a:t>
            </a:r>
            <a:endParaRPr lang="en-IN" sz="1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ectangle 15361"/>
          <p:cNvSpPr/>
          <p:nvPr/>
        </p:nvSpPr>
        <p:spPr>
          <a:xfrm>
            <a:off x="365760" y="1051560"/>
            <a:ext cx="1133856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5363" name="Rectangle 15362"/>
          <p:cNvSpPr/>
          <p:nvPr/>
        </p:nvSpPr>
        <p:spPr>
          <a:xfrm>
            <a:off x="5120640" y="1051560"/>
            <a:ext cx="18288" cy="1965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5364" name="TextBox 15363"/>
          <p:cNvSpPr txBox="1"/>
          <p:nvPr/>
        </p:nvSpPr>
        <p:spPr>
          <a:xfrm>
            <a:off x="502920" y="1115568"/>
            <a:ext cx="4480560" cy="15722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50" b="1" u="sng">
                <a:solidFill>
                  <a:srgbClr val="0070C0"/>
                </a:solidFill>
                <a:latin typeface="Times New Roman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Fuel takes up over 50% of the entire cost of running a cargo ship.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Ships sail along fixed paths at constant engine speed, fighting against rough waves and water currents.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carbon smoke leads to heavy government fines under new IMO environmental rules.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5303520" y="1115568"/>
            <a:ext cx="6263640" cy="2003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50" b="1" u="sng">
                <a:solidFill>
                  <a:srgbClr val="0070C0"/>
                </a:solidFill>
                <a:latin typeface="Times New Roman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Idea (GreenFleet Quantum):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simple software that uses live satellite maps to find the easiest sea path with minimum water resistance.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Suggests the best engine speed for every part of the trip so the ship burns less fuel.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directly on existing ship computers with zero new hardware and 1-click route loading.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Cuts fuel burn by </a:t>
            </a:r>
            <a:r>
              <a:rPr lang="en-GB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16.8%</a:t>
            </a:r>
            <a:r>
              <a:rPr lang="en-GB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saves over </a:t>
            </a:r>
            <a:r>
              <a:rPr lang="en-GB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$230,000</a:t>
            </a:r>
            <a:r>
              <a:rPr lang="en-GB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on a single trip.</a:t>
            </a:r>
          </a:p>
          <a:p>
            <a:pPr algn="l">
              <a:spcAft>
                <a:spcPts val="500"/>
              </a:spcAft>
              <a:defRPr sz="1450" b="1" u="sng">
                <a:solidFill>
                  <a:srgbClr val="0070C0"/>
                </a:solidFill>
                <a:latin typeface="Times New Roman"/>
              </a:defRPr>
            </a:pP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6" name="TextBox 15365"/>
          <p:cNvSpPr txBox="1"/>
          <p:nvPr/>
        </p:nvSpPr>
        <p:spPr>
          <a:xfrm>
            <a:off x="365760" y="3182112"/>
            <a:ext cx="3794760" cy="2993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u="sng">
                <a:solidFill>
                  <a:srgbClr val="0070C0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Proposed Solution:</a:t>
            </a:r>
          </a:p>
          <a:p>
            <a:pPr marL="12700" marR="60325" indent="110489">
              <a:lnSpc>
                <a:spcPct val="100099"/>
              </a:lnSpc>
              <a:spcBef>
                <a:spcPts val="95"/>
              </a:spcBef>
              <a:buChar char="•"/>
              <a:tabLst>
                <a:tab pos="123189" algn="l"/>
              </a:tabLst>
            </a:pPr>
            <a:r>
              <a:rPr lang="en-IN" sz="1300" b="1" dirty="0">
                <a:latin typeface="Times New Roman"/>
                <a:cs typeface="Times New Roman"/>
              </a:rPr>
              <a:t>Autonomous</a:t>
            </a:r>
            <a:r>
              <a:rPr lang="en-IN" sz="1300" b="1" spc="-70" dirty="0">
                <a:latin typeface="Times New Roman"/>
                <a:cs typeface="Times New Roman"/>
              </a:rPr>
              <a:t> </a:t>
            </a:r>
            <a:r>
              <a:rPr lang="en-IN" sz="1300" b="1" spc="-10" dirty="0">
                <a:latin typeface="Times New Roman"/>
                <a:cs typeface="Times New Roman"/>
              </a:rPr>
              <a:t>Routing: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Dynamic </a:t>
            </a:r>
            <a:r>
              <a:rPr lang="en-IN" sz="1300" spc="-10" dirty="0">
                <a:solidFill>
                  <a:srgbClr val="0E172A"/>
                </a:solidFill>
                <a:latin typeface="Times New Roman"/>
                <a:cs typeface="Times New Roman"/>
              </a:rPr>
              <a:t>real-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time</a:t>
            </a:r>
            <a:r>
              <a:rPr lang="en-IN" sz="1300" spc="-3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speed</a:t>
            </a:r>
            <a:r>
              <a:rPr lang="en-IN" sz="1300" spc="-25" dirty="0">
                <a:solidFill>
                  <a:srgbClr val="0E172A"/>
                </a:solidFill>
                <a:latin typeface="Times New Roman"/>
                <a:cs typeface="Times New Roman"/>
              </a:rPr>
              <a:t> and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heading</a:t>
            </a:r>
            <a:r>
              <a:rPr lang="en-IN" sz="1300" spc="-5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optimization</a:t>
            </a:r>
            <a:r>
              <a:rPr lang="en-IN" sz="1300" spc="-5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spc="-10" dirty="0">
                <a:solidFill>
                  <a:srgbClr val="0E172A"/>
                </a:solidFill>
                <a:latin typeface="Times New Roman"/>
                <a:cs typeface="Times New Roman"/>
              </a:rPr>
              <a:t>across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oceanic</a:t>
            </a:r>
            <a:r>
              <a:rPr lang="en-IN" sz="1300" spc="-25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corridors</a:t>
            </a:r>
            <a:r>
              <a:rPr lang="en-IN" sz="1300" spc="-4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using</a:t>
            </a:r>
            <a:r>
              <a:rPr lang="en-IN" sz="1300" spc="-20" dirty="0">
                <a:solidFill>
                  <a:srgbClr val="0E172A"/>
                </a:solidFill>
                <a:latin typeface="Times New Roman"/>
                <a:cs typeface="Times New Roman"/>
              </a:rPr>
              <a:t> live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Copernicus</a:t>
            </a:r>
            <a:r>
              <a:rPr lang="en-IN" sz="1300" spc="-5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metocean</a:t>
            </a:r>
            <a:r>
              <a:rPr lang="en-IN" sz="1300" spc="-5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spc="-10" dirty="0">
                <a:solidFill>
                  <a:srgbClr val="0E172A"/>
                </a:solidFill>
                <a:latin typeface="Times New Roman"/>
                <a:cs typeface="Times New Roman"/>
              </a:rPr>
              <a:t>vectors.</a:t>
            </a:r>
            <a:endParaRPr lang="en-IN" sz="1300" dirty="0">
              <a:latin typeface="Times New Roman"/>
              <a:cs typeface="Times New Roman"/>
            </a:endParaRPr>
          </a:p>
          <a:p>
            <a:pPr marL="12700" marR="168275" indent="120650">
              <a:lnSpc>
                <a:spcPct val="100000"/>
              </a:lnSpc>
              <a:spcBef>
                <a:spcPts val="685"/>
              </a:spcBef>
              <a:buChar char="•"/>
              <a:tabLst>
                <a:tab pos="133350" algn="l"/>
              </a:tabLst>
            </a:pPr>
            <a:r>
              <a:rPr lang="en-IN" sz="1300" b="1" dirty="0">
                <a:latin typeface="Times New Roman"/>
                <a:cs typeface="Times New Roman"/>
              </a:rPr>
              <a:t>Naval</a:t>
            </a:r>
            <a:r>
              <a:rPr lang="en-IN" sz="1300" b="1" spc="-40" dirty="0">
                <a:latin typeface="Times New Roman"/>
                <a:cs typeface="Times New Roman"/>
              </a:rPr>
              <a:t> </a:t>
            </a:r>
            <a:r>
              <a:rPr lang="en-IN" sz="1300" b="1" dirty="0">
                <a:latin typeface="Times New Roman"/>
                <a:cs typeface="Times New Roman"/>
              </a:rPr>
              <a:t>Physics</a:t>
            </a:r>
            <a:r>
              <a:rPr lang="en-IN" sz="1300" b="1" spc="-45" dirty="0">
                <a:latin typeface="Times New Roman"/>
                <a:cs typeface="Times New Roman"/>
              </a:rPr>
              <a:t> </a:t>
            </a:r>
            <a:r>
              <a:rPr lang="en-IN" sz="1300" b="1" spc="-10" dirty="0">
                <a:latin typeface="Times New Roman"/>
                <a:cs typeface="Times New Roman"/>
              </a:rPr>
              <a:t>Twin: </a:t>
            </a:r>
            <a:r>
              <a:rPr lang="en-IN" sz="1300" spc="-10" dirty="0">
                <a:solidFill>
                  <a:srgbClr val="0E172A"/>
                </a:solidFill>
                <a:latin typeface="Times New Roman"/>
                <a:cs typeface="Times New Roman"/>
              </a:rPr>
              <a:t>Holtrop-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Mennen</a:t>
            </a:r>
            <a:r>
              <a:rPr lang="en-IN" sz="1300" spc="1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hull</a:t>
            </a:r>
            <a:r>
              <a:rPr lang="en-IN" sz="1300" spc="-20" dirty="0">
                <a:solidFill>
                  <a:srgbClr val="0E172A"/>
                </a:solidFill>
                <a:latin typeface="Times New Roman"/>
                <a:cs typeface="Times New Roman"/>
              </a:rPr>
              <a:t> drag,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ISO 15016</a:t>
            </a:r>
            <a:r>
              <a:rPr lang="en-IN" sz="1300" spc="-4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wave</a:t>
            </a:r>
            <a:r>
              <a:rPr lang="en-IN" sz="1300" spc="15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spc="-10" dirty="0">
                <a:solidFill>
                  <a:srgbClr val="0E172A"/>
                </a:solidFill>
                <a:latin typeface="Times New Roman"/>
                <a:cs typeface="Times New Roman"/>
              </a:rPr>
              <a:t>resistance,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and</a:t>
            </a:r>
            <a:r>
              <a:rPr lang="en-IN" sz="1300" spc="-15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non-linear</a:t>
            </a:r>
            <a:r>
              <a:rPr lang="en-IN" sz="1300" spc="-4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engine</a:t>
            </a:r>
            <a:r>
              <a:rPr lang="en-IN" sz="1300" spc="-3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spc="-20" dirty="0">
                <a:solidFill>
                  <a:srgbClr val="0E172A"/>
                </a:solidFill>
                <a:latin typeface="Times New Roman"/>
                <a:cs typeface="Times New Roman"/>
              </a:rPr>
              <a:t>SFOC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power</a:t>
            </a:r>
            <a:r>
              <a:rPr lang="en-IN" sz="1300" spc="-5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spc="-10" dirty="0">
                <a:solidFill>
                  <a:srgbClr val="0E172A"/>
                </a:solidFill>
                <a:latin typeface="Times New Roman"/>
                <a:cs typeface="Times New Roman"/>
              </a:rPr>
              <a:t>curves.</a:t>
            </a:r>
            <a:endParaRPr lang="en-IN" sz="1300" dirty="0">
              <a:latin typeface="Times New Roman"/>
              <a:cs typeface="Times New Roman"/>
            </a:endParaRPr>
          </a:p>
          <a:p>
            <a:pPr marL="12700" marR="5080" indent="120650">
              <a:lnSpc>
                <a:spcPct val="100000"/>
              </a:lnSpc>
              <a:spcBef>
                <a:spcPts val="700"/>
              </a:spcBef>
              <a:buChar char="•"/>
              <a:tabLst>
                <a:tab pos="133350" algn="l"/>
              </a:tabLst>
            </a:pPr>
            <a:r>
              <a:rPr lang="en-IN" sz="1300" b="1" spc="-10" dirty="0">
                <a:latin typeface="Times New Roman"/>
                <a:cs typeface="Times New Roman"/>
              </a:rPr>
              <a:t>156-</a:t>
            </a:r>
            <a:r>
              <a:rPr lang="en-IN" sz="1300" b="1" dirty="0">
                <a:latin typeface="Times New Roman"/>
                <a:cs typeface="Times New Roman"/>
              </a:rPr>
              <a:t>Qubit</a:t>
            </a:r>
            <a:r>
              <a:rPr lang="en-IN" sz="1300" b="1" spc="-5" dirty="0">
                <a:latin typeface="Times New Roman"/>
                <a:cs typeface="Times New Roman"/>
              </a:rPr>
              <a:t> </a:t>
            </a:r>
            <a:r>
              <a:rPr lang="en-IN" sz="1300" b="1" spc="-10" dirty="0">
                <a:latin typeface="Times New Roman"/>
                <a:cs typeface="Times New Roman"/>
              </a:rPr>
              <a:t>Hybrid </a:t>
            </a:r>
            <a:r>
              <a:rPr lang="en-IN" sz="1300" b="1" dirty="0">
                <a:latin typeface="Times New Roman"/>
                <a:cs typeface="Times New Roman"/>
              </a:rPr>
              <a:t>HQOA:</a:t>
            </a:r>
            <a:r>
              <a:rPr lang="en-IN" sz="1300" b="1" spc="-15" dirty="0"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QPSO</a:t>
            </a:r>
            <a:r>
              <a:rPr lang="en-IN" sz="1300" spc="-3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spc="-10" dirty="0">
                <a:solidFill>
                  <a:srgbClr val="0E172A"/>
                </a:solidFill>
                <a:latin typeface="Times New Roman"/>
                <a:cs typeface="Times New Roman"/>
              </a:rPr>
              <a:t>quantum </a:t>
            </a:r>
            <a:r>
              <a:rPr lang="en-IN" sz="1300" dirty="0" err="1">
                <a:solidFill>
                  <a:srgbClr val="0E172A"/>
                </a:solidFill>
                <a:latin typeface="Times New Roman"/>
                <a:cs typeface="Times New Roman"/>
              </a:rPr>
              <a:t>tunneling</a:t>
            </a:r>
            <a:r>
              <a:rPr lang="en-IN" sz="1300" spc="-3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+</a:t>
            </a:r>
            <a:r>
              <a:rPr lang="en-IN" sz="1300" spc="5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spc="-10" dirty="0">
                <a:solidFill>
                  <a:srgbClr val="0E172A"/>
                </a:solidFill>
                <a:latin typeface="Times New Roman"/>
                <a:cs typeface="Times New Roman"/>
              </a:rPr>
              <a:t>QGA</a:t>
            </a:r>
            <a:r>
              <a:rPr lang="en-IN" sz="1300" spc="-75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spc="-10" dirty="0">
                <a:solidFill>
                  <a:srgbClr val="0E172A"/>
                </a:solidFill>
                <a:latin typeface="Times New Roman"/>
                <a:cs typeface="Times New Roman"/>
              </a:rPr>
              <a:t>rotation</a:t>
            </a:r>
            <a:r>
              <a:rPr lang="en-IN" sz="1300" spc="50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gates</a:t>
            </a:r>
            <a:r>
              <a:rPr lang="en-IN" sz="1300" spc="-1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evaluating</a:t>
            </a:r>
            <a:r>
              <a:rPr lang="en-IN" sz="1300" spc="-45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10^14</a:t>
            </a:r>
            <a:r>
              <a:rPr lang="en-IN" sz="1300" spc="-2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speed</a:t>
            </a:r>
            <a:r>
              <a:rPr lang="en-IN" sz="1300" spc="-2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</a:p>
          <a:p>
            <a:pPr marL="12700" marR="5080">
              <a:lnSpc>
                <a:spcPct val="100000"/>
              </a:lnSpc>
              <a:spcBef>
                <a:spcPts val="700"/>
              </a:spcBef>
              <a:tabLst>
                <a:tab pos="133350" algn="l"/>
              </a:tabLst>
            </a:pPr>
            <a:r>
              <a:rPr lang="en-IN" sz="1300" b="1" spc="-50" dirty="0">
                <a:solidFill>
                  <a:srgbClr val="0184C6"/>
                </a:solidFill>
                <a:latin typeface="Times New Roman"/>
                <a:cs typeface="Times New Roman"/>
              </a:rPr>
              <a:t>• </a:t>
            </a:r>
            <a:r>
              <a:rPr lang="en-IN" sz="1300" b="1" spc="-25" dirty="0">
                <a:latin typeface="Times New Roman"/>
                <a:cs typeface="Times New Roman"/>
              </a:rPr>
              <a:t>Zero-</a:t>
            </a:r>
            <a:r>
              <a:rPr lang="en-IN" sz="1300" b="1" dirty="0">
                <a:latin typeface="Times New Roman"/>
                <a:cs typeface="Times New Roman"/>
              </a:rPr>
              <a:t>Hardware</a:t>
            </a:r>
            <a:r>
              <a:rPr lang="en-IN" sz="1300" b="1" spc="-30" dirty="0">
                <a:latin typeface="Times New Roman"/>
                <a:cs typeface="Times New Roman"/>
              </a:rPr>
              <a:t> </a:t>
            </a:r>
            <a:r>
              <a:rPr lang="en-IN" sz="1300" b="1" spc="-10" dirty="0">
                <a:latin typeface="Times New Roman"/>
                <a:cs typeface="Times New Roman"/>
              </a:rPr>
              <a:t>ECDIS: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NMEA</a:t>
            </a:r>
            <a:r>
              <a:rPr lang="en-IN" sz="1300" spc="-8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0183</a:t>
            </a:r>
            <a:r>
              <a:rPr lang="en-IN" sz="1300" spc="-25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($ECWPL)</a:t>
            </a:r>
            <a:r>
              <a:rPr lang="en-IN" sz="1300" spc="-20" dirty="0">
                <a:solidFill>
                  <a:srgbClr val="0E172A"/>
                </a:solidFill>
                <a:latin typeface="Times New Roman"/>
                <a:cs typeface="Times New Roman"/>
              </a:rPr>
              <a:t> route</a:t>
            </a:r>
            <a:endParaRPr lang="en-IN" sz="1300" dirty="0">
              <a:latin typeface="Times New Roman"/>
              <a:cs typeface="Times New Roman"/>
            </a:endParaRPr>
          </a:p>
          <a:p>
            <a:pPr marL="12700" marR="101600">
              <a:lnSpc>
                <a:spcPct val="100000"/>
              </a:lnSpc>
              <a:spcBef>
                <a:spcPts val="10"/>
              </a:spcBef>
            </a:pP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export</a:t>
            </a:r>
            <a:r>
              <a:rPr lang="en-IN" sz="1300" spc="-25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into</a:t>
            </a:r>
            <a:r>
              <a:rPr lang="en-IN" sz="1300" spc="-2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Furuno,</a:t>
            </a:r>
            <a:r>
              <a:rPr lang="en-IN" sz="1300" spc="-55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spc="-10" dirty="0" err="1">
                <a:solidFill>
                  <a:srgbClr val="0E172A"/>
                </a:solidFill>
                <a:latin typeface="Times New Roman"/>
                <a:cs typeface="Times New Roman"/>
              </a:rPr>
              <a:t>Transas</a:t>
            </a:r>
            <a:r>
              <a:rPr lang="en-IN" sz="1300" spc="-10" dirty="0">
                <a:solidFill>
                  <a:srgbClr val="0E172A"/>
                </a:solidFill>
                <a:latin typeface="Times New Roman"/>
                <a:cs typeface="Times New Roman"/>
              </a:rPr>
              <a:t>,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and</a:t>
            </a:r>
            <a:r>
              <a:rPr lang="en-IN" sz="1300" spc="-45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 err="1">
                <a:solidFill>
                  <a:srgbClr val="0E172A"/>
                </a:solidFill>
                <a:latin typeface="Times New Roman"/>
                <a:cs typeface="Times New Roman"/>
              </a:rPr>
              <a:t>Wärtsilä</a:t>
            </a:r>
            <a:r>
              <a:rPr lang="en-IN" sz="1300" spc="-2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dirty="0">
                <a:solidFill>
                  <a:srgbClr val="0E172A"/>
                </a:solidFill>
                <a:latin typeface="Times New Roman"/>
                <a:cs typeface="Times New Roman"/>
              </a:rPr>
              <a:t>bridge</a:t>
            </a:r>
            <a:r>
              <a:rPr lang="en-IN" sz="1300" spc="-5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n-IN" sz="1300" spc="-10" dirty="0">
                <a:solidFill>
                  <a:srgbClr val="0E172A"/>
                </a:solidFill>
                <a:latin typeface="Times New Roman"/>
                <a:cs typeface="Times New Roman"/>
              </a:rPr>
              <a:t>consoles.</a:t>
            </a:r>
            <a:endParaRPr lang="en-IN" sz="1300" dirty="0">
              <a:latin typeface="Times New Roman"/>
              <a:cs typeface="Times New Roman"/>
            </a:endParaRPr>
          </a:p>
        </p:txBody>
      </p:sp>
      <p:sp>
        <p:nvSpPr>
          <p:cNvPr id="15367" name="Rounded Rectangle 15366"/>
          <p:cNvSpPr/>
          <p:nvPr/>
        </p:nvSpPr>
        <p:spPr>
          <a:xfrm>
            <a:off x="4251960" y="3218688"/>
            <a:ext cx="3017520" cy="475488"/>
          </a:xfrm>
          <a:prstGeom prst="roundRect">
            <a:avLst/>
          </a:prstGeom>
          <a:solidFill>
            <a:srgbClr val="F8CBA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950" b="1" u="none">
                <a:solidFill>
                  <a:srgbClr val="000000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Satellite &amp; Vessel Telemetry</a:t>
            </a:r>
          </a:p>
          <a:p>
            <a:pPr algn="ctr">
              <a:defRPr sz="800" b="0" u="none">
                <a:solidFill>
                  <a:srgbClr val="000000"/>
                </a:solidFill>
                <a:latin typeface="Times New Roman"/>
              </a:defRPr>
            </a:pPr>
            <a:r>
              <a:rPr sz="900" dirty="0">
                <a:latin typeface="Times New Roman"/>
              </a:rPr>
              <a:t>Copernicus Currents + Ship AIS GPS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160520" y="4434840"/>
            <a:ext cx="1554480" cy="658368"/>
          </a:xfrm>
          <a:prstGeom prst="roundRect">
            <a:avLst/>
          </a:prstGeom>
          <a:solidFill>
            <a:srgbClr val="FFE69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900" b="1" u="none">
                <a:solidFill>
                  <a:srgbClr val="000000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Quantum Engine</a:t>
            </a:r>
          </a:p>
          <a:p>
            <a:pPr algn="ctr">
              <a:defRPr sz="800" b="0" u="none">
                <a:solidFill>
                  <a:srgbClr val="000000"/>
                </a:solidFill>
                <a:latin typeface="Times New Roman"/>
              </a:defRPr>
            </a:pPr>
            <a:r>
              <a:rPr sz="900" dirty="0">
                <a:latin typeface="Times New Roman"/>
              </a:rPr>
              <a:t>IBM </a:t>
            </a:r>
            <a:r>
              <a:rPr sz="900" dirty="0" err="1">
                <a:latin typeface="Times New Roman"/>
              </a:rPr>
              <a:t>Qiskit</a:t>
            </a:r>
            <a:r>
              <a:rPr sz="900" dirty="0">
                <a:latin typeface="Times New Roman"/>
              </a:rPr>
              <a:t> + Physics</a:t>
            </a:r>
            <a:br>
              <a:rPr sz="900" dirty="0"/>
            </a:br>
            <a:r>
              <a:rPr sz="900" dirty="0">
                <a:latin typeface="Times New Roman"/>
              </a:rPr>
              <a:t>(Offline SQLite)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5897880" y="4434840"/>
            <a:ext cx="1554480" cy="658368"/>
          </a:xfrm>
          <a:prstGeom prst="roundRect">
            <a:avLst/>
          </a:prstGeom>
          <a:solidFill>
            <a:srgbClr val="C6E0B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900" b="1" u="none">
                <a:solidFill>
                  <a:srgbClr val="000000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Bridge ECDIS</a:t>
            </a:r>
          </a:p>
          <a:p>
            <a:pPr algn="ctr">
              <a:defRPr sz="800" b="0" u="none">
                <a:solidFill>
                  <a:srgbClr val="000000"/>
                </a:solidFill>
                <a:latin typeface="Times New Roman"/>
              </a:defRPr>
            </a:pPr>
            <a:r>
              <a:rPr sz="900" dirty="0">
                <a:latin typeface="Times New Roman"/>
              </a:rPr>
              <a:t>Furuno / </a:t>
            </a:r>
            <a:r>
              <a:rPr sz="900" dirty="0" err="1">
                <a:latin typeface="Times New Roman"/>
              </a:rPr>
              <a:t>Transas</a:t>
            </a:r>
            <a:br>
              <a:rPr sz="900" dirty="0"/>
            </a:br>
            <a:r>
              <a:rPr sz="900" dirty="0">
                <a:latin typeface="Times New Roman"/>
              </a:rPr>
              <a:t>(1-Click .</a:t>
            </a:r>
            <a:r>
              <a:rPr sz="900" dirty="0" err="1">
                <a:latin typeface="Times New Roman"/>
              </a:rPr>
              <a:t>nmea</a:t>
            </a:r>
            <a:r>
              <a:rPr sz="900" dirty="0">
                <a:latin typeface="Times New Roman"/>
              </a:rPr>
              <a:t>)</a:t>
            </a:r>
          </a:p>
        </p:txBody>
      </p:sp>
      <p:sp>
        <p:nvSpPr>
          <p:cNvPr id="15370" name="Down Arrow 15369"/>
          <p:cNvSpPr/>
          <p:nvPr/>
        </p:nvSpPr>
        <p:spPr>
          <a:xfrm>
            <a:off x="4846320" y="3822191"/>
            <a:ext cx="128016" cy="47548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5371" name="Down Arrow 15370"/>
          <p:cNvSpPr/>
          <p:nvPr/>
        </p:nvSpPr>
        <p:spPr>
          <a:xfrm>
            <a:off x="6583680" y="3822191"/>
            <a:ext cx="128016" cy="47548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5372" name="Right Arrow 15371"/>
          <p:cNvSpPr/>
          <p:nvPr/>
        </p:nvSpPr>
        <p:spPr>
          <a:xfrm>
            <a:off x="5742432" y="4709160"/>
            <a:ext cx="128016" cy="128016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5373" name="TextBox 15372"/>
          <p:cNvSpPr txBox="1"/>
          <p:nvPr/>
        </p:nvSpPr>
        <p:spPr>
          <a:xfrm>
            <a:off x="5394470" y="4069080"/>
            <a:ext cx="823944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 b="1" u="none">
                <a:solidFill>
                  <a:srgbClr val="0070C0"/>
                </a:solidFill>
                <a:latin typeface="Times New Roman"/>
              </a:defRPr>
            </a:pPr>
            <a:r>
              <a:rPr sz="900" dirty="0">
                <a:latin typeface="Times New Roman"/>
              </a:rPr>
              <a:t>GreenFleet Core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7635240" y="3182112"/>
            <a:ext cx="4069080" cy="26699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u="sng">
                <a:solidFill>
                  <a:srgbClr val="0070C0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Innovation &amp; Uniqueness: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latin typeface="Times New Roman"/>
              </a:defRPr>
            </a:pPr>
            <a:r>
              <a:rPr lang="en-US" sz="1400" b="1" spc="-25" dirty="0">
                <a:solidFill>
                  <a:srgbClr val="09182E"/>
                </a:solidFill>
                <a:latin typeface="Times New Roman"/>
                <a:cs typeface="Times New Roman"/>
              </a:rPr>
              <a:t>Dynamic routes: </a:t>
            </a:r>
            <a:r>
              <a:rPr lang="en-US" sz="1400" spc="-25" dirty="0">
                <a:solidFill>
                  <a:srgbClr val="09182E"/>
                </a:solidFill>
                <a:latin typeface="Times New Roman"/>
                <a:cs typeface="Times New Roman"/>
              </a:rPr>
              <a:t>The route can change according to real-time ocean and weather conditions.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latin typeface="Times New Roman"/>
              </a:defRPr>
            </a:pPr>
            <a:r>
              <a:rPr lang="en-US" sz="1400" b="1" spc="-25" dirty="0">
                <a:solidFill>
                  <a:srgbClr val="09182E"/>
                </a:solidFill>
                <a:latin typeface="Times New Roman"/>
                <a:cs typeface="Times New Roman"/>
              </a:rPr>
              <a:t>Quantum-powered optimization</a:t>
            </a:r>
            <a:r>
              <a:rPr lang="en-US" sz="1400" spc="-25" dirty="0">
                <a:solidFill>
                  <a:srgbClr val="09182E"/>
                </a:solidFill>
                <a:latin typeface="Times New Roman"/>
                <a:cs typeface="Times New Roman"/>
              </a:rPr>
              <a:t>: Uses quantum computing to explore a large number of possible routes efficiently.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latin typeface="Times New Roman"/>
              </a:defRPr>
            </a:pPr>
            <a:r>
              <a:rPr lang="en-US" sz="1400" b="1" spc="-25" dirty="0">
                <a:solidFill>
                  <a:srgbClr val="09182E"/>
                </a:solidFill>
                <a:latin typeface="Times New Roman"/>
                <a:cs typeface="Times New Roman"/>
              </a:rPr>
              <a:t>Complete solution: </a:t>
            </a:r>
            <a:r>
              <a:rPr lang="en-US" sz="1400" spc="-25" dirty="0">
                <a:solidFill>
                  <a:srgbClr val="09182E"/>
                </a:solidFill>
                <a:latin typeface="Times New Roman"/>
                <a:cs typeface="Times New Roman"/>
              </a:rPr>
              <a:t>Combines route planning, fuel reduction, CO₂ reduction, and regulatory compliance in one system.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latin typeface="Times New Roman"/>
              </a:defRPr>
            </a:pPr>
            <a:r>
              <a:rPr lang="en-US" sz="1400" b="1" spc="-25" dirty="0">
                <a:solidFill>
                  <a:srgbClr val="09182E"/>
                </a:solidFill>
                <a:latin typeface="Times New Roman"/>
                <a:cs typeface="Times New Roman"/>
              </a:rPr>
              <a:t>Green fuels : </a:t>
            </a:r>
            <a:r>
              <a:rPr lang="en-US" sz="1400" spc="-25" dirty="0">
                <a:solidFill>
                  <a:srgbClr val="09182E"/>
                </a:solidFill>
                <a:latin typeface="Times New Roman"/>
                <a:cs typeface="Times New Roman"/>
              </a:rPr>
              <a:t>Ammonia, methane , LPG, </a:t>
            </a:r>
            <a:r>
              <a:rPr lang="en-US" sz="1400" spc="-25" dirty="0" err="1">
                <a:solidFill>
                  <a:srgbClr val="09182E"/>
                </a:solidFill>
                <a:latin typeface="Times New Roman"/>
                <a:cs typeface="Times New Roman"/>
              </a:rPr>
              <a:t>etc</a:t>
            </a:r>
            <a:r>
              <a:rPr lang="en-US" sz="1400" spc="-25" dirty="0">
                <a:solidFill>
                  <a:srgbClr val="09182E"/>
                </a:solidFill>
                <a:latin typeface="Times New Roman"/>
                <a:cs typeface="Times New Roman"/>
              </a:rPr>
              <a:t> </a:t>
            </a:r>
            <a:endParaRPr lang="en-US" sz="1400" b="1" spc="-25" dirty="0">
              <a:solidFill>
                <a:srgbClr val="09182E"/>
              </a:solidFill>
              <a:latin typeface="Times New Roman"/>
              <a:cs typeface="Times New Roman"/>
            </a:endParaRPr>
          </a:p>
          <a:p>
            <a:pPr>
              <a:spcAft>
                <a:spcPts val="400"/>
              </a:spcAft>
              <a:defRPr sz="1200">
                <a:latin typeface="Times New Roman"/>
              </a:defRPr>
            </a:pPr>
            <a:endParaRPr sz="1400" b="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>
                <a:latin typeface="Times New Roman"/>
              </a:defRPr>
            </a:pPr>
            <a:endParaRPr lang="en-US" sz="2000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057400" y="228600"/>
            <a:ext cx="7772400" cy="731520"/>
          </a:xfrm>
        </p:spPr>
        <p:txBody>
          <a:bodyPr/>
          <a:lstStyle/>
          <a:p>
            <a:pPr algn="l" eaLnBrk="1" hangingPunct="1">
              <a:defRPr sz="2200" b="1" u="none">
                <a:solidFill>
                  <a:srgbClr val="0F1E36"/>
                </a:solidFill>
                <a:latin typeface="Times New Roman"/>
              </a:defRPr>
            </a:pPr>
            <a:r>
              <a:rPr sz="2400"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677C3CE7-23F7-4828-823C-E0205DF2CF97}" type="slidenum">
              <a:rPr lang="en-US" sz="1400" b="1">
                <a:solidFill>
                  <a:schemeClr val="bg1"/>
                </a:solidFill>
              </a:rPr>
              <a:pPr>
                <a:defRPr>
                  <a:latin typeface="Times New Roman"/>
                </a:defRPr>
              </a:pPr>
              <a:t>3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5486400" cy="365125"/>
          </a:xfrm>
        </p:spPr>
        <p:txBody>
          <a:bodyPr wrap="none" lIns="0" tIns="0" rIns="0" bIns="0"/>
          <a:lstStyle/>
          <a:p>
            <a:pPr algn="l">
              <a:defRPr sz="1000" b="0" u="none">
                <a:solidFill>
                  <a:srgbClr val="FFFFFF"/>
                </a:solidFill>
                <a:latin typeface="Times New Roman"/>
              </a:defRPr>
            </a:pPr>
            <a:r>
              <a:rPr sz="1050">
                <a:latin typeface="Times New Roman"/>
              </a:rPr>
              <a:t>@ GREENFLEET QUANTUM – TEAMBUILDERS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28600" y="164592"/>
            <a:ext cx="1508760" cy="749808"/>
          </a:xfrm>
          <a:prstGeom prst="ellipse">
            <a:avLst/>
          </a:prstGeom>
          <a:solidFill>
            <a:srgbClr val="0F1E36"/>
          </a:solidFill>
          <a:ln w="19050">
            <a:solidFill>
              <a:srgbClr val="FFFFFF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>
              <a:defRPr sz="1350" b="1" u="none">
                <a:solidFill>
                  <a:srgbClr val="FFFFFF"/>
                </a:solidFill>
                <a:latin typeface="Times New Roman"/>
              </a:defRPr>
            </a:pPr>
            <a:r>
              <a:rPr sz="1400">
                <a:latin typeface="Times New Roman"/>
              </a:rPr>
              <a:t>TeamBuilders</a:t>
            </a:r>
            <a:endParaRPr lang="en-IN" sz="1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65760" y="3675485"/>
            <a:ext cx="177126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u="none">
                <a:solidFill>
                  <a:srgbClr val="0070C0"/>
                </a:solidFill>
                <a:latin typeface="Times New Roman"/>
              </a:defRPr>
            </a:pPr>
            <a:r>
              <a:rPr sz="1400" dirty="0">
                <a:latin typeface="Times New Roman"/>
              </a:rPr>
              <a:t>Tech Stack Symbols:</a:t>
            </a:r>
          </a:p>
        </p:txBody>
      </p:sp>
      <p:pic>
        <p:nvPicPr>
          <p:cNvPr id="17412" name="Picture 17411" descr="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858768"/>
            <a:ext cx="457200" cy="457200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434094" y="4352544"/>
            <a:ext cx="411971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 b="1" u="none">
                <a:solidFill>
                  <a:srgbClr val="000000"/>
                </a:solidFill>
                <a:latin typeface="Times New Roman"/>
              </a:defRPr>
            </a:pPr>
            <a:r>
              <a:rPr sz="1050">
                <a:latin typeface="Times New Roman"/>
              </a:rPr>
              <a:t>Python</a:t>
            </a:r>
          </a:p>
        </p:txBody>
      </p:sp>
      <p:pic>
        <p:nvPicPr>
          <p:cNvPr id="17414" name="Picture 17413" descr="fasta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3913632"/>
            <a:ext cx="777240" cy="347472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1657731" y="4297680"/>
            <a:ext cx="479297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 b="1" u="none">
                <a:solidFill>
                  <a:srgbClr val="000000"/>
                </a:solidFill>
                <a:latin typeface="Times New Roman"/>
              </a:defRPr>
            </a:pPr>
            <a:r>
              <a:rPr sz="1050">
                <a:latin typeface="Times New Roman"/>
              </a:rPr>
              <a:t>FastAPI</a:t>
            </a:r>
          </a:p>
        </p:txBody>
      </p:sp>
      <p:pic>
        <p:nvPicPr>
          <p:cNvPr id="17416" name="Picture 17415" descr="rea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480" y="3858768"/>
            <a:ext cx="457200" cy="457200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2677614" y="4352544"/>
            <a:ext cx="496931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 b="1" u="none">
                <a:solidFill>
                  <a:srgbClr val="000000"/>
                </a:solidFill>
                <a:latin typeface="Times New Roman"/>
              </a:defRPr>
            </a:pPr>
            <a:r>
              <a:rPr sz="1050">
                <a:latin typeface="Times New Roman"/>
              </a:rPr>
              <a:t>React 19</a:t>
            </a:r>
          </a:p>
        </p:txBody>
      </p:sp>
      <p:pic>
        <p:nvPicPr>
          <p:cNvPr id="17418" name="Picture 17417" descr="typescrip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760" y="3858768"/>
            <a:ext cx="457200" cy="457200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3701958" y="4352544"/>
            <a:ext cx="642804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 b="1" u="none">
                <a:solidFill>
                  <a:srgbClr val="000000"/>
                </a:solidFill>
                <a:latin typeface="Times New Roman"/>
              </a:defRPr>
            </a:pPr>
            <a:r>
              <a:rPr sz="1050">
                <a:latin typeface="Times New Roman"/>
              </a:rPr>
              <a:t>TypeScript</a:t>
            </a:r>
          </a:p>
        </p:txBody>
      </p:sp>
      <p:pic>
        <p:nvPicPr>
          <p:cNvPr id="17420" name="Picture 17419" descr="qisk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4709160"/>
            <a:ext cx="457200" cy="457200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313067" y="5202936"/>
            <a:ext cx="654025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 b="1" u="none">
                <a:solidFill>
                  <a:srgbClr val="000000"/>
                </a:solidFill>
                <a:latin typeface="Times New Roman"/>
              </a:defRPr>
            </a:pPr>
            <a:r>
              <a:rPr sz="1050">
                <a:latin typeface="Times New Roman"/>
              </a:rPr>
              <a:t>IBM Qiskit</a:t>
            </a:r>
          </a:p>
        </p:txBody>
      </p:sp>
      <p:pic>
        <p:nvPicPr>
          <p:cNvPr id="17422" name="Picture 17421" descr="sql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8760" y="4754880"/>
            <a:ext cx="777240" cy="347472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1514262" y="5138928"/>
            <a:ext cx="766235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 b="1" u="none">
                <a:solidFill>
                  <a:srgbClr val="000000"/>
                </a:solidFill>
                <a:latin typeface="Times New Roman"/>
              </a:defRPr>
            </a:pPr>
            <a:r>
              <a:rPr sz="1050">
                <a:latin typeface="Times New Roman"/>
              </a:rPr>
              <a:t>SQLite WAL</a:t>
            </a:r>
          </a:p>
        </p:txBody>
      </p:sp>
      <p:pic>
        <p:nvPicPr>
          <p:cNvPr id="17424" name="Picture 17423" descr="dock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7480" y="4709160"/>
            <a:ext cx="502920" cy="438912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2739748" y="5184648"/>
            <a:ext cx="418384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 b="1" u="none">
                <a:solidFill>
                  <a:srgbClr val="000000"/>
                </a:solidFill>
                <a:latin typeface="Times New Roman"/>
              </a:defRPr>
            </a:pPr>
            <a:r>
              <a:rPr sz="1050" dirty="0">
                <a:latin typeface="Times New Roman"/>
              </a:rPr>
              <a:t>Docker</a:t>
            </a:r>
          </a:p>
        </p:txBody>
      </p:sp>
      <p:pic>
        <p:nvPicPr>
          <p:cNvPr id="17426" name="Picture 17425" descr="leafle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03320" y="4754880"/>
            <a:ext cx="822960" cy="347472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3780574" y="5138928"/>
            <a:ext cx="668452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 b="1" u="none">
                <a:solidFill>
                  <a:srgbClr val="000000"/>
                </a:solidFill>
                <a:latin typeface="Times New Roman"/>
              </a:defRPr>
            </a:pPr>
            <a:r>
              <a:rPr sz="1050">
                <a:latin typeface="Times New Roman"/>
              </a:rPr>
              <a:t>Leaflet GIS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365760" y="5623560"/>
            <a:ext cx="4663440" cy="3462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u="sng">
                <a:solidFill>
                  <a:srgbClr val="0070C0"/>
                </a:solidFill>
                <a:latin typeface="Times New Roman"/>
              </a:defRPr>
            </a:pPr>
            <a:r>
              <a:rPr sz="1200">
                <a:latin typeface="Times New Roman"/>
              </a:rPr>
              <a:t>Git Repo:</a:t>
            </a:r>
          </a:p>
          <a:p>
            <a:pPr algn="l">
              <a:defRPr sz="1000" b="0" u="none">
                <a:solidFill>
                  <a:srgbClr val="0070C0"/>
                </a:solidFill>
                <a:latin typeface="Times New Roman"/>
              </a:defRPr>
            </a:pPr>
            <a:r>
              <a:rPr sz="1050">
                <a:latin typeface="Times New Roman"/>
              </a:rPr>
              <a:t>https://github.com/thrinadh2005/SIH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5257800" y="1024128"/>
            <a:ext cx="470109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350" b="1" u="sng">
                <a:solidFill>
                  <a:srgbClr val="0070C0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Flowchart (Methodology &amp; Implementation Process):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583680" y="1353312"/>
            <a:ext cx="3931920" cy="42062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1000" b="1" u="none">
                <a:solidFill>
                  <a:srgbClr val="000000"/>
                </a:solidFill>
                <a:latin typeface="Times New Roman"/>
              </a:defRPr>
            </a:pPr>
            <a:r>
              <a:rPr sz="1050">
                <a:latin typeface="Times New Roman"/>
              </a:rPr>
              <a:t>Bridge Navigation &amp; Satellite Feeds</a:t>
            </a:r>
          </a:p>
          <a:p>
            <a:pPr algn="ctr">
              <a:defRPr sz="850" b="0" u="none">
                <a:solidFill>
                  <a:srgbClr val="000000"/>
                </a:solidFill>
                <a:latin typeface="Times New Roman"/>
              </a:defRPr>
            </a:pPr>
            <a:r>
              <a:rPr sz="900">
                <a:latin typeface="Times New Roman"/>
              </a:rPr>
              <a:t>Live Environmental &amp; Ship Positioning Inputs</a:t>
            </a:r>
          </a:p>
        </p:txBody>
      </p:sp>
      <p:sp>
        <p:nvSpPr>
          <p:cNvPr id="17432" name="Down Arrow 17431"/>
          <p:cNvSpPr/>
          <p:nvPr/>
        </p:nvSpPr>
        <p:spPr>
          <a:xfrm>
            <a:off x="6766560" y="1810512"/>
            <a:ext cx="128016" cy="164592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7433" name="Down Arrow 17432"/>
          <p:cNvSpPr/>
          <p:nvPr/>
        </p:nvSpPr>
        <p:spPr>
          <a:xfrm>
            <a:off x="10149840" y="1810512"/>
            <a:ext cx="128016" cy="164592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7434" name="Rounded Rectangle 17433"/>
          <p:cNvSpPr/>
          <p:nvPr/>
        </p:nvSpPr>
        <p:spPr>
          <a:xfrm>
            <a:off x="5257800" y="2011680"/>
            <a:ext cx="3063240" cy="493776"/>
          </a:xfrm>
          <a:prstGeom prst="roundRect">
            <a:avLst/>
          </a:prstGeom>
          <a:solidFill>
            <a:srgbClr val="BDD7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950" b="1" u="none">
                <a:solidFill>
                  <a:srgbClr val="000000"/>
                </a:solidFill>
                <a:latin typeface="Times New Roman"/>
              </a:defRPr>
            </a:pPr>
            <a:r>
              <a:rPr sz="1000">
                <a:latin typeface="Times New Roman"/>
              </a:rPr>
              <a:t>Copernicus Satellite Metocean</a:t>
            </a:r>
          </a:p>
          <a:p>
            <a:pPr algn="ctr">
              <a:defRPr sz="800" b="0" u="none">
                <a:solidFill>
                  <a:srgbClr val="000000"/>
                </a:solidFill>
                <a:latin typeface="Times New Roman"/>
              </a:defRPr>
            </a:pPr>
            <a:r>
              <a:rPr sz="900">
                <a:latin typeface="Times New Roman"/>
              </a:rPr>
              <a:t>Live ocean currents, wave height &amp; wind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8641080" y="2011680"/>
            <a:ext cx="3063240" cy="49377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950" b="1" u="none">
                <a:solidFill>
                  <a:srgbClr val="000000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Ship AIS Telemetry Stream</a:t>
            </a:r>
          </a:p>
          <a:p>
            <a:pPr algn="ctr">
              <a:defRPr sz="800" b="0" u="none">
                <a:solidFill>
                  <a:srgbClr val="000000"/>
                </a:solidFill>
                <a:latin typeface="Times New Roman"/>
              </a:defRPr>
            </a:pPr>
            <a:r>
              <a:rPr sz="900" dirty="0">
                <a:latin typeface="Times New Roman"/>
              </a:rPr>
              <a:t>GPS position, speed over ground &amp; draft</a:t>
            </a:r>
          </a:p>
        </p:txBody>
      </p:sp>
      <p:sp>
        <p:nvSpPr>
          <p:cNvPr id="17436" name="Down Arrow 17435"/>
          <p:cNvSpPr/>
          <p:nvPr/>
        </p:nvSpPr>
        <p:spPr>
          <a:xfrm>
            <a:off x="6766560" y="2542032"/>
            <a:ext cx="128016" cy="146304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7437" name="Down Arrow 17436"/>
          <p:cNvSpPr/>
          <p:nvPr/>
        </p:nvSpPr>
        <p:spPr>
          <a:xfrm>
            <a:off x="10149840" y="2542032"/>
            <a:ext cx="128016" cy="146304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7438" name="Can 17437"/>
          <p:cNvSpPr/>
          <p:nvPr/>
        </p:nvSpPr>
        <p:spPr>
          <a:xfrm>
            <a:off x="5257800" y="2724912"/>
            <a:ext cx="1371600" cy="530352"/>
          </a:xfrm>
          <a:prstGeom prst="can">
            <a:avLst/>
          </a:prstGeom>
          <a:solidFill>
            <a:srgbClr val="C6E0B4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900" b="1" u="none">
                <a:solidFill>
                  <a:srgbClr val="000000"/>
                </a:solidFill>
                <a:latin typeface="Times New Roman"/>
              </a:defRPr>
            </a:pPr>
            <a:r>
              <a:rPr sz="1000">
                <a:latin typeface="Times New Roman"/>
              </a:rPr>
              <a:t>Local SQLite DB</a:t>
            </a:r>
          </a:p>
          <a:p>
            <a:pPr algn="ctr">
              <a:defRPr sz="800" b="0" u="none">
                <a:solidFill>
                  <a:srgbClr val="000000"/>
                </a:solidFill>
                <a:latin typeface="Times New Roman"/>
              </a:defRPr>
            </a:pPr>
            <a:r>
              <a:rPr sz="900">
                <a:latin typeface="Times New Roman"/>
              </a:rPr>
              <a:t>7-Day Offline Cache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903720" y="2724912"/>
            <a:ext cx="4800600" cy="530352"/>
          </a:xfrm>
          <a:prstGeom prst="roundRect">
            <a:avLst/>
          </a:prstGeom>
          <a:solidFill>
            <a:srgbClr val="FFE69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1000" b="1" u="none">
                <a:solidFill>
                  <a:srgbClr val="000000"/>
                </a:solidFill>
                <a:latin typeface="Times New Roman"/>
              </a:defRPr>
            </a:pPr>
            <a:r>
              <a:rPr sz="1050">
                <a:latin typeface="Times New Roman"/>
              </a:rPr>
              <a:t>Shipboard Edge Gateway (Docker Container)</a:t>
            </a:r>
          </a:p>
          <a:p>
            <a:pPr algn="ctr">
              <a:defRPr sz="850" b="0" u="none">
                <a:solidFill>
                  <a:srgbClr val="000000"/>
                </a:solidFill>
                <a:latin typeface="Times New Roman"/>
              </a:defRPr>
            </a:pPr>
            <a:r>
              <a:rPr sz="900">
                <a:latin typeface="Times New Roman"/>
              </a:rPr>
              <a:t>Combines weather grid with ship GPS; works 100% offline</a:t>
            </a:r>
          </a:p>
        </p:txBody>
      </p:sp>
      <p:sp>
        <p:nvSpPr>
          <p:cNvPr id="17440" name="Left-Right Arrow 17439"/>
          <p:cNvSpPr/>
          <p:nvPr/>
        </p:nvSpPr>
        <p:spPr>
          <a:xfrm>
            <a:off x="6656832" y="2907792"/>
            <a:ext cx="219456" cy="146304"/>
          </a:xfrm>
          <a:prstGeom prst="left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7441" name="Down Arrow 17440"/>
          <p:cNvSpPr/>
          <p:nvPr/>
        </p:nvSpPr>
        <p:spPr>
          <a:xfrm>
            <a:off x="9281160" y="3291840"/>
            <a:ext cx="128016" cy="146304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7442" name="Diamond 17441"/>
          <p:cNvSpPr/>
          <p:nvPr/>
        </p:nvSpPr>
        <p:spPr>
          <a:xfrm>
            <a:off x="8366760" y="3456432"/>
            <a:ext cx="1874519" cy="530352"/>
          </a:xfrm>
          <a:prstGeom prst="diamond">
            <a:avLst/>
          </a:prstGeom>
          <a:solidFill>
            <a:srgbClr val="CCC0DA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900" b="1" u="none">
                <a:solidFill>
                  <a:srgbClr val="000000"/>
                </a:solidFill>
                <a:latin typeface="Times New Roman"/>
              </a:defRPr>
            </a:pPr>
            <a:r>
              <a:rPr sz="1000">
                <a:latin typeface="Times New Roman"/>
              </a:rPr>
              <a:t>Data Validation</a:t>
            </a:r>
            <a:br>
              <a:rPr sz="1000"/>
            </a:br>
            <a:r>
              <a:rPr sz="1000">
                <a:latin typeface="Times New Roman"/>
              </a:rPr>
              <a:t>Check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5669280" y="3493008"/>
            <a:ext cx="2240280" cy="457200"/>
          </a:xfrm>
          <a:prstGeom prst="roundRect">
            <a:avLst/>
          </a:prstGeom>
          <a:solidFill>
            <a:srgbClr val="F8CBA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850" b="1" u="none">
                <a:solidFill>
                  <a:srgbClr val="000000"/>
                </a:solidFill>
                <a:latin typeface="Times New Roman"/>
              </a:defRPr>
            </a:pPr>
            <a:r>
              <a:rPr sz="900">
                <a:latin typeface="Times New Roman"/>
              </a:rPr>
              <a:t>If Offline / Signal Drop:</a:t>
            </a:r>
          </a:p>
          <a:p>
            <a:pPr algn="ctr">
              <a:defRPr sz="750" b="0" u="none">
                <a:solidFill>
                  <a:srgbClr val="000000"/>
                </a:solidFill>
                <a:latin typeface="Times New Roman"/>
              </a:defRPr>
            </a:pPr>
            <a:r>
              <a:rPr sz="800">
                <a:latin typeface="Times New Roman"/>
              </a:rPr>
              <a:t>Use Cached Forecast &amp; Dead-Reckoning</a:t>
            </a:r>
          </a:p>
        </p:txBody>
      </p:sp>
      <p:sp>
        <p:nvSpPr>
          <p:cNvPr id="17444" name="Left Arrow 17443"/>
          <p:cNvSpPr/>
          <p:nvPr/>
        </p:nvSpPr>
        <p:spPr>
          <a:xfrm>
            <a:off x="7973568" y="3639312"/>
            <a:ext cx="320040" cy="128016"/>
          </a:xfrm>
          <a:prstGeom prst="lef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7445" name="Down Arrow 17444"/>
          <p:cNvSpPr/>
          <p:nvPr/>
        </p:nvSpPr>
        <p:spPr>
          <a:xfrm>
            <a:off x="6766560" y="3968496"/>
            <a:ext cx="128016" cy="182880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7446" name="Down Arrow 17445"/>
          <p:cNvSpPr/>
          <p:nvPr/>
        </p:nvSpPr>
        <p:spPr>
          <a:xfrm>
            <a:off x="9281160" y="4005072"/>
            <a:ext cx="128016" cy="146304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7447" name="TextBox 17446"/>
          <p:cNvSpPr txBox="1"/>
          <p:nvPr/>
        </p:nvSpPr>
        <p:spPr>
          <a:xfrm>
            <a:off x="9464040" y="3986784"/>
            <a:ext cx="224420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50" b="1" u="none">
                <a:solidFill>
                  <a:srgbClr val="166534"/>
                </a:solidFill>
                <a:latin typeface="Times New Roman"/>
              </a:defRPr>
            </a:pPr>
            <a:r>
              <a:rPr lang="en-IN" sz="900" dirty="0">
                <a:latin typeface="Times New Roman"/>
              </a:rPr>
              <a:t>YES</a:t>
            </a:r>
            <a:endParaRPr sz="900" dirty="0">
              <a:latin typeface="Times New Roman"/>
            </a:endParaRPr>
          </a:p>
        </p:txBody>
      </p:sp>
      <p:sp>
        <p:nvSpPr>
          <p:cNvPr id="17448" name="Rounded Rectangle 17447"/>
          <p:cNvSpPr/>
          <p:nvPr/>
        </p:nvSpPr>
        <p:spPr>
          <a:xfrm>
            <a:off x="5715000" y="4187952"/>
            <a:ext cx="5989320" cy="457200"/>
          </a:xfrm>
          <a:prstGeom prst="roundRect">
            <a:avLst/>
          </a:prstGeom>
          <a:solidFill>
            <a:srgbClr val="BDD7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950" b="1" u="none">
                <a:solidFill>
                  <a:srgbClr val="000000"/>
                </a:solidFill>
                <a:latin typeface="Times New Roman"/>
              </a:defRPr>
            </a:pPr>
            <a:r>
              <a:rPr sz="1000">
                <a:latin typeface="Times New Roman"/>
              </a:rPr>
              <a:t>Naval Hydrodynamic Physics Engine (Holtrop &amp; ISO 15016)</a:t>
            </a:r>
          </a:p>
          <a:p>
            <a:pPr algn="ctr">
              <a:defRPr sz="800" b="0" u="none">
                <a:solidFill>
                  <a:srgbClr val="000000"/>
                </a:solidFill>
                <a:latin typeface="Times New Roman"/>
              </a:defRPr>
            </a:pPr>
            <a:r>
              <a:rPr sz="900">
                <a:latin typeface="Times New Roman"/>
              </a:rPr>
              <a:t>Calculates calm water drag, wave resistance &amp; exact engine power needed</a:t>
            </a:r>
          </a:p>
        </p:txBody>
      </p:sp>
      <p:sp>
        <p:nvSpPr>
          <p:cNvPr id="17449" name="Down Arrow 17448"/>
          <p:cNvSpPr/>
          <p:nvPr/>
        </p:nvSpPr>
        <p:spPr>
          <a:xfrm>
            <a:off x="8961120" y="4663440"/>
            <a:ext cx="128016" cy="146304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7450" name="Rounded Rectangle 17449"/>
          <p:cNvSpPr/>
          <p:nvPr/>
        </p:nvSpPr>
        <p:spPr>
          <a:xfrm>
            <a:off x="5715000" y="4828032"/>
            <a:ext cx="5989320" cy="4572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950" b="1" u="none">
                <a:solidFill>
                  <a:srgbClr val="000000"/>
                </a:solidFill>
                <a:latin typeface="Times New Roman"/>
              </a:defRPr>
            </a:pPr>
            <a:r>
              <a:rPr sz="1000">
                <a:latin typeface="Times New Roman"/>
              </a:rPr>
              <a:t>Quantum Route Optimizer (IBM Qiskit)</a:t>
            </a:r>
          </a:p>
          <a:p>
            <a:pPr algn="ctr">
              <a:defRPr sz="800" b="0" u="none">
                <a:solidFill>
                  <a:srgbClr val="000000"/>
                </a:solidFill>
                <a:latin typeface="Times New Roman"/>
              </a:defRPr>
            </a:pPr>
            <a:r>
              <a:rPr sz="900">
                <a:latin typeface="Times New Roman"/>
              </a:rPr>
              <a:t>Tests thousands of speed schedules to find lowest fuel &amp; carbon cost</a:t>
            </a:r>
          </a:p>
        </p:txBody>
      </p:sp>
      <p:sp>
        <p:nvSpPr>
          <p:cNvPr id="17451" name="Down Arrow 17450"/>
          <p:cNvSpPr/>
          <p:nvPr/>
        </p:nvSpPr>
        <p:spPr>
          <a:xfrm>
            <a:off x="8961120" y="5303520"/>
            <a:ext cx="128016" cy="146304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7452" name="Rounded Rectangle 17451"/>
          <p:cNvSpPr/>
          <p:nvPr/>
        </p:nvSpPr>
        <p:spPr>
          <a:xfrm>
            <a:off x="5257800" y="5468112"/>
            <a:ext cx="2011680" cy="512064"/>
          </a:xfrm>
          <a:prstGeom prst="roundRect">
            <a:avLst/>
          </a:prstGeom>
          <a:solidFill>
            <a:srgbClr val="C6E0B4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900" b="1" u="none">
                <a:solidFill>
                  <a:srgbClr val="000000"/>
                </a:solidFill>
                <a:latin typeface="Times New Roman"/>
              </a:defRPr>
            </a:pPr>
            <a:r>
              <a:rPr sz="1000">
                <a:latin typeface="Times New Roman"/>
              </a:rPr>
              <a:t>Bridge ECDIS Radar</a:t>
            </a:r>
          </a:p>
          <a:p>
            <a:pPr algn="ctr">
              <a:defRPr sz="750" b="0" u="none">
                <a:solidFill>
                  <a:srgbClr val="000000"/>
                </a:solidFill>
                <a:latin typeface="Times New Roman"/>
              </a:defRPr>
            </a:pPr>
            <a:r>
              <a:rPr sz="800">
                <a:latin typeface="Times New Roman"/>
              </a:rPr>
              <a:t>1-Click .nmea route load</a:t>
            </a:r>
            <a:br>
              <a:rPr sz="800"/>
            </a:br>
            <a:r>
              <a:rPr sz="800">
                <a:latin typeface="Times New Roman"/>
              </a:rPr>
              <a:t>(Furuno / Transas)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7406640" y="5468112"/>
            <a:ext cx="2057400" cy="512064"/>
          </a:xfrm>
          <a:prstGeom prst="roundRect">
            <a:avLst/>
          </a:prstGeom>
          <a:solidFill>
            <a:srgbClr val="CCC0DA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900" b="1" u="none">
                <a:solidFill>
                  <a:srgbClr val="000000"/>
                </a:solidFill>
                <a:latin typeface="Times New Roman"/>
              </a:defRPr>
            </a:pPr>
            <a:r>
              <a:rPr sz="1000">
                <a:latin typeface="Times New Roman"/>
              </a:rPr>
              <a:t>5 Route Presets</a:t>
            </a:r>
          </a:p>
          <a:p>
            <a:pPr algn="ctr">
              <a:defRPr sz="750" b="0" u="none">
                <a:solidFill>
                  <a:srgbClr val="000000"/>
                </a:solidFill>
                <a:latin typeface="Times New Roman"/>
              </a:defRPr>
            </a:pPr>
            <a:r>
              <a:rPr sz="800">
                <a:latin typeface="Times New Roman"/>
              </a:rPr>
              <a:t>Lowest Fuel / Storm Safe</a:t>
            </a:r>
            <a:br>
              <a:rPr sz="800"/>
            </a:br>
            <a:r>
              <a:rPr sz="800">
                <a:latin typeface="Times New Roman"/>
              </a:rPr>
              <a:t>Fast Arrival / Bio-Fuel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9601200" y="5468112"/>
            <a:ext cx="2103120" cy="512064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900" b="1" u="none">
                <a:solidFill>
                  <a:srgbClr val="000000"/>
                </a:solidFill>
                <a:latin typeface="Times New Roman"/>
              </a:defRPr>
            </a:pPr>
            <a:r>
              <a:rPr sz="1000">
                <a:latin typeface="Times New Roman"/>
              </a:rPr>
              <a:t>IMO Compliance</a:t>
            </a:r>
          </a:p>
          <a:p>
            <a:pPr algn="ctr">
              <a:defRPr sz="750" b="0" u="none">
                <a:solidFill>
                  <a:srgbClr val="000000"/>
                </a:solidFill>
                <a:latin typeface="Times New Roman"/>
              </a:defRPr>
            </a:pPr>
            <a:r>
              <a:rPr sz="800">
                <a:latin typeface="Times New Roman"/>
              </a:rPr>
              <a:t>Auto-generated XML report</a:t>
            </a:r>
            <a:br>
              <a:rPr sz="800"/>
            </a:br>
            <a:r>
              <a:rPr sz="800">
                <a:latin typeface="Times New Roman"/>
              </a:rPr>
              <a:t>(IMO DCS &amp; EU MRV)</a:t>
            </a:r>
          </a:p>
        </p:txBody>
      </p:sp>
      <p:sp>
        <p:nvSpPr>
          <p:cNvPr id="17455" name="Up Arrow 17454"/>
          <p:cNvSpPr/>
          <p:nvPr/>
        </p:nvSpPr>
        <p:spPr>
          <a:xfrm>
            <a:off x="5349240" y="4956048"/>
            <a:ext cx="128016" cy="475488"/>
          </a:xfrm>
          <a:prstGeom prst="up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7456" name="TextBox 17455"/>
          <p:cNvSpPr txBox="1"/>
          <p:nvPr/>
        </p:nvSpPr>
        <p:spPr>
          <a:xfrm>
            <a:off x="5213764" y="4480560"/>
            <a:ext cx="42639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00" b="1" u="none">
                <a:solidFill>
                  <a:srgbClr val="000000"/>
                </a:solidFill>
                <a:latin typeface="Times New Roman"/>
              </a:defRPr>
            </a:pPr>
            <a:r>
              <a:rPr sz="800" dirty="0">
                <a:latin typeface="Times New Roman"/>
              </a:rPr>
              <a:t>AIS Loop</a:t>
            </a:r>
            <a:br>
              <a:rPr sz="800" dirty="0"/>
            </a:br>
            <a:r>
              <a:rPr sz="800" dirty="0">
                <a:latin typeface="Times New Roman"/>
              </a:rPr>
              <a:t>(every 3s)</a:t>
            </a:r>
          </a:p>
        </p:txBody>
      </p:sp>
      <p:sp>
        <p:nvSpPr>
          <p:cNvPr id="17457" name="Right Arrow 17456"/>
          <p:cNvSpPr/>
          <p:nvPr/>
        </p:nvSpPr>
        <p:spPr>
          <a:xfrm>
            <a:off x="5367528" y="4937760"/>
            <a:ext cx="347472" cy="128016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1B4EC-B058-9A26-A78D-A4C173A2EF12}"/>
              </a:ext>
            </a:extLst>
          </p:cNvPr>
          <p:cNvSpPr txBox="1"/>
          <p:nvPr/>
        </p:nvSpPr>
        <p:spPr>
          <a:xfrm>
            <a:off x="141732" y="1024128"/>
            <a:ext cx="522579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TECHSTACK: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and visualisation: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19,Typescript ,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Vite,Leaflet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Nautical GIS,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Lucide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and Physics Engine: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(Python 3.12),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Numpy,SciPy,Uvicorn,Pydantic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v2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&amp; OPTIMIZATION: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1.3, QPSO Quantum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Tunneling,QGA,PyTorch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FNO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METOCEAN AND AIS FEED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Copernicus CMEMS (1/12),Open-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Meteo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Maine,AISStream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 AND SECURITY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SHA-256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Crypto,SQLite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WAL,Other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Times New Roman"/>
              </a:defRPr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74519" y="164592"/>
            <a:ext cx="7772400" cy="731520"/>
          </a:xfrm>
        </p:spPr>
        <p:txBody>
          <a:bodyPr/>
          <a:lstStyle/>
          <a:p>
            <a:pPr algn="l" eaLnBrk="1" hangingPunct="1">
              <a:defRPr sz="2200" b="1" u="none">
                <a:solidFill>
                  <a:srgbClr val="0F1E36"/>
                </a:solidFill>
                <a:latin typeface="Times New Roman"/>
              </a:defRPr>
            </a:pPr>
            <a:r>
              <a:rPr sz="2400" dirty="0"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5486400" cy="365125"/>
          </a:xfrm>
        </p:spPr>
        <p:txBody>
          <a:bodyPr wrap="none"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u="none">
                <a:solidFill>
                  <a:srgbClr val="FFFFFF"/>
                </a:solidFill>
                <a:latin typeface="Times New Roman"/>
              </a:defRPr>
            </a:pPr>
            <a:r>
              <a:rPr sz="1050">
                <a:latin typeface="Times New Roman"/>
              </a:rPr>
              <a:t>@ GREENFLEET QUANTUM – TEAMBUILDERS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28600" y="164592"/>
            <a:ext cx="1508760" cy="749808"/>
          </a:xfrm>
          <a:prstGeom prst="ellipse">
            <a:avLst/>
          </a:prstGeom>
          <a:solidFill>
            <a:srgbClr val="0F1E36"/>
          </a:solidFill>
          <a:ln w="19050">
            <a:solidFill>
              <a:srgbClr val="FFFFFF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>
              <a:defRPr sz="1350" b="1" u="none">
                <a:solidFill>
                  <a:srgbClr val="FFFFFF"/>
                </a:solidFill>
                <a:latin typeface="Times New Roman"/>
              </a:defRPr>
            </a:pPr>
            <a:r>
              <a:rPr sz="1400">
                <a:latin typeface="Times New Roman"/>
              </a:rPr>
              <a:t>TeamBuilders</a:t>
            </a:r>
            <a:endParaRPr lang="en-IN" sz="1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005840"/>
            <a:ext cx="176638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450" b="1" u="sng">
                <a:solidFill>
                  <a:srgbClr val="0070C0"/>
                </a:solidFill>
                <a:latin typeface="Times New Roman"/>
              </a:defRPr>
            </a:pPr>
            <a:r>
              <a:rPr sz="1600">
                <a:latin typeface="Times New Roman"/>
              </a:rPr>
              <a:t>Feasibility Analysis: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280160"/>
            <a:ext cx="3611880" cy="2084831"/>
          </a:xfrm>
          <a:prstGeom prst="roundRect">
            <a:avLst/>
          </a:prstGeom>
          <a:solidFill>
            <a:srgbClr val="E4E7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7412" name="TextBox 17411"/>
          <p:cNvSpPr txBox="1"/>
          <p:nvPr/>
        </p:nvSpPr>
        <p:spPr>
          <a:xfrm>
            <a:off x="475488" y="1335024"/>
            <a:ext cx="3392424" cy="18774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  <a:defRPr sz="1300" b="1" u="none">
                <a:solidFill>
                  <a:srgbClr val="0070C0"/>
                </a:solidFill>
                <a:latin typeface="Times New Roman"/>
              </a:defRPr>
            </a:pPr>
            <a:r>
              <a:rPr sz="1400" dirty="0">
                <a:latin typeface="Times New Roman"/>
              </a:rPr>
              <a:t>Technical Feasibility:</a:t>
            </a:r>
          </a:p>
          <a:p>
            <a:pPr>
              <a:spcAft>
                <a:spcPts val="200"/>
              </a:spcAft>
              <a:defRPr sz="1050">
                <a:latin typeface="Times New Roman"/>
              </a:defRPr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• Constructed on standard open-source libraries (Python 3.12, 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FastAPI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, React 19, IBM 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Qiskit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), preventing vendor lock-in.</a:t>
            </a:r>
          </a:p>
          <a:p>
            <a:pPr>
              <a:spcAft>
                <a:spcPts val="200"/>
              </a:spcAft>
              <a:defRPr sz="1050">
                <a:latin typeface="Times New Roman"/>
              </a:defRPr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• Hydrodynamic math embeds 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Holtrop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-Mennen calm water regression alongside ISO 15016 wave drag coefficients.</a:t>
            </a:r>
          </a:p>
          <a:p>
            <a:pPr>
              <a:spcAft>
                <a:spcPts val="200"/>
              </a:spcAft>
              <a:defRPr sz="1050">
                <a:latin typeface="Times New Roman"/>
              </a:defRPr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• Direct pipeline ingests free Copernicus Marine (CMEMS) satellite data, eliminating external commercial weather API fees.</a:t>
            </a:r>
          </a:p>
          <a:p>
            <a:pPr algn="ctr">
              <a:spcBef>
                <a:spcPts val="300"/>
              </a:spcBef>
              <a:defRPr sz="1000" b="1" u="none">
                <a:solidFill>
                  <a:srgbClr val="166534"/>
                </a:solidFill>
                <a:latin typeface="Times New Roman"/>
              </a:defRPr>
            </a:pPr>
            <a:r>
              <a:rPr sz="1050" dirty="0">
                <a:latin typeface="Times New Roman"/>
              </a:rPr>
              <a:t>[TRL-7 Validated System]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33672" y="1280160"/>
            <a:ext cx="3611880" cy="2084831"/>
          </a:xfrm>
          <a:prstGeom prst="roundRect">
            <a:avLst/>
          </a:prstGeom>
          <a:solidFill>
            <a:srgbClr val="E4E7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7414" name="TextBox 17413"/>
          <p:cNvSpPr txBox="1"/>
          <p:nvPr/>
        </p:nvSpPr>
        <p:spPr>
          <a:xfrm>
            <a:off x="4343400" y="1335024"/>
            <a:ext cx="3392424" cy="20467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  <a:defRPr sz="1300" b="1" u="none">
                <a:solidFill>
                  <a:srgbClr val="0070C0"/>
                </a:solidFill>
                <a:latin typeface="Times New Roman"/>
              </a:defRPr>
            </a:pPr>
            <a:r>
              <a:rPr sz="1400" dirty="0">
                <a:latin typeface="Times New Roman"/>
              </a:rPr>
              <a:t>Operational Feasibility:</a:t>
            </a:r>
          </a:p>
          <a:p>
            <a:pPr>
              <a:spcAft>
                <a:spcPts val="200"/>
              </a:spcAft>
              <a:defRPr sz="1050">
                <a:latin typeface="Times New Roman"/>
              </a:defRPr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• Operates as pure containerized software on bridge workstations; requires zero drydocking, hull cuts, or sensor installs.</a:t>
            </a:r>
          </a:p>
          <a:p>
            <a:pPr>
              <a:spcAft>
                <a:spcPts val="200"/>
              </a:spcAft>
              <a:defRPr sz="1050">
                <a:latin typeface="Times New Roman"/>
              </a:defRPr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• Exports standard NMEA 0183 route plans (.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nmea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) that deck officers load directly onto Furuno, 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Transas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, and 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Wärtsilä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 ECDIS.</a:t>
            </a:r>
          </a:p>
          <a:p>
            <a:pPr>
              <a:spcAft>
                <a:spcPts val="200"/>
              </a:spcAft>
              <a:defRPr sz="1050">
                <a:latin typeface="Times New Roman"/>
              </a:defRPr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• Master and watchkeeping officers retain complete navigational discretion, preserving standard bridge operating procedures.</a:t>
            </a:r>
          </a:p>
          <a:p>
            <a:pPr algn="ctr">
              <a:spcBef>
                <a:spcPts val="300"/>
              </a:spcBef>
              <a:defRPr sz="1000" b="1" u="none">
                <a:solidFill>
                  <a:srgbClr val="166534"/>
                </a:solidFill>
                <a:latin typeface="Times New Roman"/>
              </a:defRPr>
            </a:pPr>
            <a:r>
              <a:rPr sz="1050" dirty="0">
                <a:latin typeface="Times New Roman"/>
              </a:rPr>
              <a:t>[Zero Capex • Plug-and-Play]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101584" y="1280160"/>
            <a:ext cx="3611880" cy="2084831"/>
          </a:xfrm>
          <a:prstGeom prst="roundRect">
            <a:avLst/>
          </a:prstGeom>
          <a:solidFill>
            <a:srgbClr val="E4E7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sz="2000"/>
          </a:p>
        </p:txBody>
      </p:sp>
      <p:sp>
        <p:nvSpPr>
          <p:cNvPr id="17416" name="TextBox 17415"/>
          <p:cNvSpPr txBox="1"/>
          <p:nvPr/>
        </p:nvSpPr>
        <p:spPr>
          <a:xfrm>
            <a:off x="8211311" y="1335024"/>
            <a:ext cx="3392424" cy="1538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  <a:defRPr sz="1300" b="1" u="none">
                <a:solidFill>
                  <a:srgbClr val="0070C0"/>
                </a:solidFill>
                <a:latin typeface="Times New Roman"/>
              </a:defRPr>
            </a:pPr>
            <a:r>
              <a:rPr sz="1400">
                <a:latin typeface="Times New Roman"/>
              </a:rPr>
              <a:t>Economic Viability:</a:t>
            </a:r>
          </a:p>
          <a:p>
            <a:pPr>
              <a:spcAft>
                <a:spcPts val="200"/>
              </a:spcAft>
              <a:defRPr sz="1050">
                <a:latin typeface="Times New Roman"/>
              </a:defRPr>
            </a:pPr>
            <a:r>
              <a:rPr sz="1100" b="0">
                <a:solidFill>
                  <a:srgbClr val="000000"/>
                </a:solidFill>
                <a:latin typeface="Times New Roman"/>
              </a:rPr>
              <a:t>• Delivers roughly $237,800 in net fuel savings on a single Pacific transit for a typical 15,000 TEU container carrier.</a:t>
            </a:r>
          </a:p>
          <a:p>
            <a:pPr>
              <a:spcAft>
                <a:spcPts val="200"/>
              </a:spcAft>
              <a:defRPr sz="1050">
                <a:latin typeface="Times New Roman"/>
              </a:defRPr>
            </a:pPr>
            <a:r>
              <a:rPr sz="1100" b="0">
                <a:solidFill>
                  <a:srgbClr val="000000"/>
                </a:solidFill>
                <a:latin typeface="Times New Roman"/>
              </a:rPr>
              <a:t>• Achieves positive operational cash return on the maiden crossing with zero upfront capital expenditure.</a:t>
            </a:r>
          </a:p>
          <a:p>
            <a:pPr>
              <a:spcAft>
                <a:spcPts val="200"/>
              </a:spcAft>
              <a:defRPr sz="1050">
                <a:latin typeface="Times New Roman"/>
              </a:defRPr>
            </a:pPr>
            <a:r>
              <a:rPr sz="1100" b="0">
                <a:solidFill>
                  <a:srgbClr val="000000"/>
                </a:solidFill>
                <a:latin typeface="Times New Roman"/>
              </a:rPr>
              <a:t>• Lightweight Docker image deploys via vessel IT in under 15 minutes, avoiding shipyard technician callout expenses.</a:t>
            </a:r>
          </a:p>
          <a:p>
            <a:pPr algn="ctr">
              <a:spcBef>
                <a:spcPts val="300"/>
              </a:spcBef>
              <a:defRPr sz="1000" b="1" u="none">
                <a:solidFill>
                  <a:srgbClr val="166534"/>
                </a:solidFill>
                <a:latin typeface="Times New Roman"/>
              </a:defRPr>
            </a:pPr>
            <a:r>
              <a:rPr sz="1050">
                <a:latin typeface="Times New Roman"/>
              </a:rPr>
              <a:t>[Breakeven: 1st Voyage]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65760" y="3474720"/>
            <a:ext cx="5303520" cy="17440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  <a:defRPr sz="1400" b="1" u="sng">
                <a:solidFill>
                  <a:srgbClr val="0070C0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Potential Challenges &amp; Risks: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00">
                <a:latin typeface="Times New Roman"/>
              </a:defRPr>
            </a:pPr>
            <a:r>
              <a:rPr lang="en-GB" sz="1400" b="0" dirty="0">
                <a:solidFill>
                  <a:srgbClr val="000000"/>
                </a:solidFill>
                <a:latin typeface="Times New Roman"/>
              </a:rPr>
              <a:t>Mid-ocean satellite communication blackouts disrupt links to </a:t>
            </a:r>
            <a:r>
              <a:rPr lang="en-GB" sz="1400" b="0" dirty="0" err="1">
                <a:solidFill>
                  <a:srgbClr val="000000"/>
                </a:solidFill>
                <a:latin typeface="Times New Roman"/>
              </a:rPr>
              <a:t>shorebased</a:t>
            </a:r>
            <a:r>
              <a:rPr lang="en-GB" sz="1400" b="0" dirty="0">
                <a:solidFill>
                  <a:srgbClr val="000000"/>
                </a:solidFill>
                <a:latin typeface="Times New Roman"/>
              </a:rPr>
              <a:t> cloud servers for hours at a time. 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00">
                <a:latin typeface="Times New Roman"/>
              </a:defRPr>
            </a:pPr>
            <a:r>
              <a:rPr lang="en-GB" sz="1400" b="0" dirty="0">
                <a:solidFill>
                  <a:srgbClr val="000000"/>
                </a:solidFill>
                <a:latin typeface="Times New Roman"/>
              </a:rPr>
              <a:t>Sudden gale squalls and high ocean swells drastically increase hull resistance, forcing main engines to burn excess fuel. 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00">
                <a:latin typeface="Times New Roman"/>
              </a:defRPr>
            </a:pPr>
            <a:r>
              <a:rPr lang="en-GB" sz="1400" b="0" dirty="0">
                <a:solidFill>
                  <a:srgbClr val="000000"/>
                </a:solidFill>
                <a:latin typeface="Times New Roman"/>
              </a:rPr>
              <a:t>Software or communication failures could stop the system from providing route updates.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217920" y="3474720"/>
            <a:ext cx="5303520" cy="1682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  <a:defRPr sz="1400" b="1" u="sng">
                <a:solidFill>
                  <a:srgbClr val="0070C0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Engineering Mitigations &amp; Safeguards: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00">
                <a:latin typeface="Times New Roman"/>
              </a:defRPr>
            </a:pPr>
            <a:r>
              <a:rPr lang="en-GB" sz="1600" b="0" dirty="0">
                <a:solidFill>
                  <a:srgbClr val="000000"/>
                </a:solidFill>
                <a:latin typeface="Times New Roman"/>
              </a:rPr>
              <a:t>A working version can simulate a full journey from Singapore to Rotterdam using real ocean current data and the </a:t>
            </a:r>
            <a:r>
              <a:rPr lang="en-GB" sz="1600" b="0" dirty="0" err="1">
                <a:solidFill>
                  <a:srgbClr val="000000"/>
                </a:solidFill>
                <a:latin typeface="Times New Roman"/>
              </a:rPr>
              <a:t>Holtrop</a:t>
            </a:r>
            <a:r>
              <a:rPr lang="en-GB" sz="1600" b="0" dirty="0">
                <a:solidFill>
                  <a:srgbClr val="000000"/>
                </a:solidFill>
                <a:latin typeface="Times New Roman"/>
              </a:rPr>
              <a:t> method to calculate ship resistance.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00">
                <a:latin typeface="Times New Roman"/>
              </a:defRPr>
            </a:pPr>
            <a:r>
              <a:rPr lang="en-GB" sz="1600" b="0" dirty="0">
                <a:solidFill>
                  <a:srgbClr val="000000"/>
                </a:solidFill>
                <a:latin typeface="Times New Roman"/>
              </a:rPr>
              <a:t>Helps save fuel and reduce operating costs.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00">
                <a:latin typeface="Times New Roman"/>
              </a:defRPr>
            </a:pPr>
            <a:r>
              <a:rPr lang="en-GB" sz="1600" b="0" dirty="0">
                <a:solidFill>
                  <a:srgbClr val="000000"/>
                </a:solidFill>
                <a:latin typeface="Times New Roman"/>
              </a:rPr>
              <a:t>Can work with existing ship and weather data</a:t>
            </a:r>
            <a:endParaRPr sz="1600" b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9102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Times New Roman"/>
              </a:defRPr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5486400" cy="365125"/>
          </a:xfrm>
        </p:spPr>
        <p:txBody>
          <a:bodyPr wrap="none"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u="none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@ GREENFLEET QUANTUM – TEAMBUILDERS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5715000" y="1024128"/>
            <a:ext cx="5989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350" b="1" u="sng">
                <a:solidFill>
                  <a:srgbClr val="0070C0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KEY PERFORMANCE METRICS (VERIFIED SAVINGS):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65FBEB9-2ECA-8AF6-5187-E48263CC6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700" y="3429000"/>
            <a:ext cx="5989319" cy="2706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FEC800-DC34-AFB9-5412-A55ED1CD0C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8201" y="1463486"/>
            <a:ext cx="6258798" cy="1800476"/>
          </a:xfrm>
          <a:prstGeom prst="rect">
            <a:avLst/>
          </a:prstGeom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F12C0FBC-B2FB-A2A1-1E67-4836F9BD5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85" y="596097"/>
            <a:ext cx="5105400" cy="568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9684" y="74064"/>
            <a:ext cx="1508760" cy="749808"/>
          </a:xfrm>
          <a:prstGeom prst="ellipse">
            <a:avLst/>
          </a:prstGeom>
          <a:solidFill>
            <a:srgbClr val="0F1E36"/>
          </a:solidFill>
          <a:ln w="19050">
            <a:solidFill>
              <a:srgbClr val="FFFFFF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>
              <a:defRPr sz="1350" b="1" u="none">
                <a:solidFill>
                  <a:srgbClr val="FFFFFF"/>
                </a:solidFill>
                <a:latin typeface="Times New Roman"/>
              </a:defRPr>
            </a:pPr>
            <a:r>
              <a:rPr dirty="0" err="1">
                <a:latin typeface="Times New Roman"/>
              </a:rPr>
              <a:t>TeamBuilders</a:t>
            </a:r>
            <a:endParaRPr lang="en-IN" dirty="0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74519" y="164592"/>
            <a:ext cx="7772400" cy="731520"/>
          </a:xfrm>
        </p:spPr>
        <p:txBody>
          <a:bodyPr/>
          <a:lstStyle/>
          <a:p>
            <a:pPr algn="l" eaLnBrk="1" hangingPunct="1">
              <a:defRPr sz="2200" b="1" u="none">
                <a:solidFill>
                  <a:srgbClr val="0F1E36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IMPACT AND BENEFITS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Times New Roman"/>
              </a:defRPr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74519" y="164592"/>
            <a:ext cx="7772400" cy="731520"/>
          </a:xfrm>
        </p:spPr>
        <p:txBody>
          <a:bodyPr/>
          <a:lstStyle/>
          <a:p>
            <a:pPr algn="l" eaLnBrk="1" hangingPunct="1">
              <a:defRPr sz="2200" b="1" u="none">
                <a:solidFill>
                  <a:srgbClr val="0F1E36"/>
                </a:solidFill>
                <a:latin typeface="Times New Roman"/>
              </a:defRPr>
            </a:pPr>
            <a:r>
              <a:rPr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5486400" cy="365125"/>
          </a:xfrm>
        </p:spPr>
        <p:txBody>
          <a:bodyPr wrap="none"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u="none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@ GREENFLEET QUANTUM – TEAMBUILDERS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28600" y="164592"/>
            <a:ext cx="1508760" cy="749808"/>
          </a:xfrm>
          <a:prstGeom prst="ellipse">
            <a:avLst/>
          </a:prstGeom>
          <a:solidFill>
            <a:srgbClr val="0F1E36"/>
          </a:solidFill>
          <a:ln w="19050">
            <a:solidFill>
              <a:srgbClr val="FFFFFF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>
              <a:defRPr sz="1350" b="1" u="none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TeamBuilders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695C63-C028-4307-8109-E0EEDB3C1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96" y="1123760"/>
            <a:ext cx="10228845" cy="28425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798F27-05E0-2359-7DA0-CCDFD00C69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96" y="3966318"/>
            <a:ext cx="9774014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F736A07-1FEA-4266-B4A8-2C6BE4B2148C}">
  <we:reference id="wa200011197" version="1.0.0.2" store="en-US" storeType="OMEX"/>
  <we:alternateReferences>
    <we:reference id="wa200011197" version="1.0.0.2" store="wa2000111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7975</TotalTime>
  <Words>990</Words>
  <Application>Microsoft Office PowerPoint</Application>
  <PresentationFormat>Widescreen</PresentationFormat>
  <Paragraphs>135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IDEA: GREENFLEET QUANTUM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Adabala Venkata Thrinadh</cp:lastModifiedBy>
  <cp:revision>162</cp:revision>
  <cp:lastPrinted>2026-09-24T09:39:15Z</cp:lastPrinted>
  <dcterms:created xsi:type="dcterms:W3CDTF">2013-12-12T18:46:50Z</dcterms:created>
  <dcterms:modified xsi:type="dcterms:W3CDTF">2026-09-24T14:11:55Z</dcterms:modified>
  <cp:category/>
</cp:coreProperties>
</file>