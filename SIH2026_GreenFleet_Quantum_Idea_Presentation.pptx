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4EBB39-3C02-4A03-91C4-9093E28FB0A0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TEAMBUILDERS | SMART INDIA HACKTON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107D5B-C620-4C7F-A8B1-3D4BDC0CA111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TEAMBUILDERS | SMART INDIA HACKTON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2C729B-383A-46EC-9B5A-D041AD407AC7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TEAMBUILDERS | SMART INDIA HACKTON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ED95EB-7A77-4723-9598-54C5830D72A7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TEAMBUILDERS | SMART INDIA HACKTON 2026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64CF52-303A-498D-BB4F-03E2FAB897A1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TEAMBUILDERS | SMART INDIA HACKTON 2026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320E4C-F10A-4B31-9F4D-C58C76CCFD60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TEAMBUILDERS | SMART INDIA HACKTON 2026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749BF8-F95C-4BE9-8A0F-D4580B54467B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TEAMBUILDERS | SMART INDIA HACKTON 2026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E71237-3E43-4069-9832-E2701117853D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TEAMBUILDERS | SMART INDIA HACKTON 2026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67AD1B-6918-441E-861C-B8599BE98BFB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TEAMBUILDERS | SMART INDIA HACKTON 2026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75FA27-AD48-4EA3-8E68-0B7BAB26E6B8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TEAMBUILDERS | SMART INDIA HACKTON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016FAC-5DE8-44CD-A729-1240A7BBC2DA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TEAMBUILDERS | SMART INDIA HACKTON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CEB4FDA8-02E2-45CA-9D24-8316EE2C13D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TEAMBUILDERS | SMART INDIA HACKTON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600" b="1">
                <a:solidFill>
                  <a:srgbClr val="1D4ED8"/>
                </a:solidFill>
              </a:defRPr>
            </a:pPr>
            <a:r>
              <a:t>SMART INDIA HACKATHON 2026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GreenFleet Quantum — Team: TeamBuilders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957" y="1418319"/>
            <a:ext cx="6286620" cy="4540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ID:</a:t>
            </a:r>
            <a:r>
              <a:rPr sz="16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SIH-26138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Title:</a:t>
            </a:r>
            <a:r>
              <a:rPr sz="16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Dynamic Maritime Decarbonization, Voyage Speed &amp; Dual-Fuel Optimization Engine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 &amp; Category:</a:t>
            </a:r>
            <a:r>
              <a:rPr sz="16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Clean &amp; Green Technology / Transportation &amp; Logistics (Software)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 &amp; Institute:</a:t>
            </a:r>
            <a:r>
              <a:rPr sz="16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TeamBuilders</a:t>
            </a:r>
            <a:r>
              <a:rPr sz="16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GMR Institute of Technology (GMRIT)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Lead:</a:t>
            </a:r>
            <a:r>
              <a:rPr sz="16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ADABALA VENKATA THRINADH (24341A0502, CSE)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b="1" dirty="0">
              <a:solidFill>
                <a:srgbClr val="1D4ED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sz="1600" b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Tejendra</a:t>
            </a:r>
            <a:r>
              <a:rPr sz="16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(24341A4533, CSE-AIDS) </a:t>
            </a:r>
            <a:endParaRPr lang="en-IN" sz="16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Dinesh (24341A1240, IT) </a:t>
            </a:r>
            <a:endParaRPr lang="en-IN" sz="1600" b="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sz="1600" b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Ramyasri</a:t>
            </a:r>
            <a:r>
              <a:rPr sz="16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(24341A1256, IT) </a:t>
            </a:r>
            <a:endParaRPr lang="en-IN" sz="1600" b="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 </a:t>
            </a:r>
            <a:r>
              <a:rPr sz="1600" b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Jathin</a:t>
            </a:r>
            <a:r>
              <a:rPr sz="16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Teja (24341A0542, CSE)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GreenFleet Quantum: Maritime Decarbonization &amp; Voyage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TEAMBUILDERS | SMART INDIA HACKTON 2026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900" b="1">
                <a:solidFill>
                  <a:srgbClr val="1D4ED8"/>
                </a:solidFill>
              </a:defRPr>
            </a:pPr>
            <a:r>
              <a:t>TeamBuilders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636EFA-DC41-5512-9121-BFBE88911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70" y="1063837"/>
            <a:ext cx="11783366" cy="52866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1D4ED8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 &amp;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TEAMBUILDERS | SMART INDIA HACKTON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135841" cy="4458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TeamBuilders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5FAD1D-C5E3-AB0F-EF57-3D76E146DB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65"/>
          <a:stretch/>
        </p:blipFill>
        <p:spPr>
          <a:xfrm>
            <a:off x="-92282" y="1060515"/>
            <a:ext cx="11922332" cy="5298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1D4ED8"/>
                </a:solidFill>
              </a:defRPr>
            </a:pPr>
            <a:r>
              <a:rPr sz="3200" dirty="0"/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TEAMBUILDERS | SMART INDIA HACKTON 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65760" y="1463040"/>
            <a:ext cx="5394960" cy="429768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D4ED8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⚙️ FEASIBILITY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Technical : </a:t>
            </a:r>
            <a:r>
              <a:rPr sz="14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proven open-source &amp; maritime standards such as </a:t>
            </a:r>
            <a:r>
              <a:rPr sz="1400" b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14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React 19, Leaflet, and </a:t>
            </a:r>
            <a:r>
              <a:rPr sz="1400" b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sz="14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a 156-qubit HQOA surrogate for sub-second predictions and classical fallback when satcom drops.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Economical : </a:t>
            </a:r>
            <a:r>
              <a:rPr sz="14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software-driven, using live Copernicus CMEMS, </a:t>
            </a:r>
            <a:r>
              <a:rPr sz="1400" b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OpenMeteo</a:t>
            </a:r>
            <a:r>
              <a:rPr sz="14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weather, and satellite AIS, eliminating costly IoT hardware retrofits and saving over 90% in setup and maintenance.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Time : </a:t>
            </a:r>
            <a:r>
              <a:rPr sz="14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microservices enable commercial fleet vessel onboarding within 1 to 2 weeks using existing vessel hydrostatic tables (DWT, LBP, draft, beam).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Operational : </a:t>
            </a:r>
            <a:r>
              <a:rPr sz="14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24/7 automated processing, ingesting satellite telemetry every 5–15 minutes and automatically updating route recommendations and hazard alerts.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943600" y="1463040"/>
            <a:ext cx="5852160" cy="429768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D4ED8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VIABILITY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IN" sz="1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Maritime &amp; Bridge Operational Fit: </a:t>
            </a:r>
            <a:r>
              <a:rPr lang="en-IN" sz="14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Directly outputs standardized IEC 61162 / NMEA 0183 ($ECWPL) waypoint routes, seamlessly integrating into Furuno, </a:t>
            </a:r>
            <a:r>
              <a:rPr lang="en-IN" sz="1400" b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Transas</a:t>
            </a:r>
            <a:r>
              <a:rPr lang="en-IN" sz="14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400" b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Wärtsilä</a:t>
            </a:r>
            <a:r>
              <a:rPr lang="en-IN" sz="14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ECDIS bridge terminals without altering crew routines.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IN" sz="1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Future-Proof &amp; Extensible: </a:t>
            </a:r>
            <a:r>
              <a:rPr lang="en-IN" sz="14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15-year DCF converter supports dual-fuel retrofits (Green Methanol, LNG, Ammonia), shore-power cold ironing, and carbon trading under the EU Emissions Trading System (EU ETS).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IN" sz="1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Economic Impact &amp; High ROI: </a:t>
            </a:r>
            <a:r>
              <a:rPr lang="en-IN" sz="14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operational bunker fuel expenditure by 16.8%, saving ~$237,800 USD per transoceanic crossing and delivering software subscription payback within 3 months.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IN" sz="1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Fleet &amp; Crew Adoption Viability: </a:t>
            </a:r>
            <a:r>
              <a:rPr lang="en-IN" sz="1400" b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Zero-install cloud web platform and local shipboard Edge Gateway daemon with offline caching ensure 100% operational continuity even during deep-sea satellite communication blackouts.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45AEB284-188A-0474-18CB-E1FAC5B814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135841" cy="4458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TeamBuilders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solidFill>
                  <a:srgbClr val="1D4ED8"/>
                </a:solidFill>
              </a:defRPr>
            </a:pPr>
            <a:r>
              <a:rPr sz="3200"/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65714" y="6356353"/>
            <a:ext cx="4586486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TEAMBUILDERS | SMART INDIA HACKTON 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325880"/>
            <a:ext cx="6858000" cy="3200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/>
              <a:t>Impact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7406640" y="1325880"/>
            <a:ext cx="4389120" cy="3200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/>
              <a:t>Benefits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65760" y="1737360"/>
            <a:ext cx="6858000" cy="118872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413" name="Rectangle 17412"/>
          <p:cNvSpPr/>
          <p:nvPr/>
        </p:nvSpPr>
        <p:spPr>
          <a:xfrm>
            <a:off x="2011680" y="1664208"/>
            <a:ext cx="35661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rPr sz="1200"/>
              <a:t>⚓ FOR FLEET OPERATORS &amp; SHIP CREW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1965960"/>
            <a:ext cx="150876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rPr sz="1400"/>
              <a:t>~16.8%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rPr sz="1100"/>
              <a:t>Fuel &amp; CO2 Reduction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148840" y="1965960"/>
            <a:ext cx="150876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rPr sz="1400"/>
              <a:t>$237.8K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rPr sz="1100"/>
              <a:t>Saved per Voyage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794760" y="1965960"/>
            <a:ext cx="150876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rPr sz="1400"/>
              <a:t>&lt;850 ms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rPr sz="1100"/>
              <a:t>Quantum Solver Speed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440680" y="1965960"/>
            <a:ext cx="150876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rPr sz="1400" dirty="0"/>
              <a:t>ZERO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rPr sz="1100" dirty="0"/>
              <a:t>Hull Hardware Cost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365760" y="3063240"/>
            <a:ext cx="6858000" cy="118872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419" name="Rectangle 17418"/>
          <p:cNvSpPr/>
          <p:nvPr/>
        </p:nvSpPr>
        <p:spPr>
          <a:xfrm>
            <a:off x="1645920" y="2990088"/>
            <a:ext cx="42976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rPr sz="1200"/>
              <a:t>🏛️ FOR MARITIME &amp; REGULATORY AUTHORITIES (IMO / EU)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02920" y="3291840"/>
            <a:ext cx="150876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rPr sz="1400"/>
              <a:t>GRADE A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rPr sz="1100"/>
              <a:t>CII Rating Certified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148840" y="3291840"/>
            <a:ext cx="150876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rPr sz="1400"/>
              <a:t>1,200 MT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rPr sz="1100"/>
              <a:t>CO2 Cut / Crossing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794760" y="3291840"/>
            <a:ext cx="150876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rPr sz="1400"/>
              <a:t>100%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rPr sz="1100"/>
              <a:t>Naval Hydrodynamics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5440680" y="3291840"/>
            <a:ext cx="150876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rPr sz="1400"/>
              <a:t>SCALABLE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rPr sz="1100"/>
              <a:t>Any Global Fleet Lane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365760" y="4389120"/>
            <a:ext cx="6858000" cy="128016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425" name="Rectangle 17424"/>
          <p:cNvSpPr/>
          <p:nvPr/>
        </p:nvSpPr>
        <p:spPr>
          <a:xfrm>
            <a:off x="2011680" y="4315968"/>
            <a:ext cx="35661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rPr sz="1100" dirty="0"/>
              <a:t>🌍 FOR GLOBAL DECARBONIZATION (IMO Net-Zero 2050)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502920" y="4617720"/>
            <a:ext cx="1463040" cy="9144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defRPr sz="1400" b="1">
                <a:solidFill>
                  <a:srgbClr val="1D4ED8"/>
                </a:solidFill>
              </a:defRPr>
            </a:pPr>
            <a:r>
              <a:rPr sz="1400"/>
              <a:t>1.07B MT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rPr sz="1100"/>
              <a:t>Global Fleet Protected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2057400" y="4617720"/>
            <a:ext cx="5029200" cy="9144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ctr">
              <a:lnSpc>
                <a:spcPct val="125000"/>
              </a:lnSpc>
              <a:defRPr sz="950" b="1">
                <a:solidFill>
                  <a:srgbClr val="1D4ED8"/>
                </a:solidFill>
              </a:defRPr>
            </a:pPr>
            <a:r>
              <a:rPr sz="1200"/>
              <a:t>Copernicus Marine &amp; AIS ➔ GreenFleet Quantum AI ➔ Ship Bridge ECDIS ➔ IMO / EU MRV Audit ➔ Net-Zero Oceans</a:t>
            </a:r>
          </a:p>
        </p:txBody>
      </p:sp>
      <p:sp>
        <p:nvSpPr>
          <p:cNvPr id="17428" name="Oval 17427"/>
          <p:cNvSpPr/>
          <p:nvPr/>
        </p:nvSpPr>
        <p:spPr>
          <a:xfrm>
            <a:off x="7406640" y="1828800"/>
            <a:ext cx="365760" cy="36576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100"/>
              <a:t>1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7863840" y="1737360"/>
            <a:ext cx="393192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850" b="1">
                <a:solidFill>
                  <a:srgbClr val="1D4ED8"/>
                </a:solidFill>
              </a:defRPr>
            </a:pPr>
            <a:r>
              <a:rPr sz="1100"/>
              <a:t>ZERO-HARDWARE HYDRODYNAMIC TWIN</a:t>
            </a:r>
          </a:p>
          <a:p>
            <a:pPr>
              <a:lnSpc>
                <a:spcPct val="105000"/>
              </a:lnSpc>
              <a:defRPr sz="750">
                <a:solidFill>
                  <a:srgbClr val="0F172A"/>
                </a:solidFill>
              </a:defRPr>
            </a:pPr>
            <a:r>
              <a:rPr sz="1050"/>
              <a:t>Coupled Holtrop-Mennen &amp; ISO 15016 physics models for hull skin friction &amp; wave resistance.</a:t>
            </a:r>
          </a:p>
        </p:txBody>
      </p:sp>
      <p:sp>
        <p:nvSpPr>
          <p:cNvPr id="17430" name="Oval 17429"/>
          <p:cNvSpPr/>
          <p:nvPr/>
        </p:nvSpPr>
        <p:spPr>
          <a:xfrm>
            <a:off x="7406640" y="2615184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100"/>
              <a:t>2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7863840" y="2523744"/>
            <a:ext cx="393192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rPr sz="1100"/>
              <a:t>156-QUBIT HYBRID QUANTUM HQOA</a:t>
            </a:r>
          </a:p>
          <a:p>
            <a:pPr>
              <a:lnSpc>
                <a:spcPct val="105000"/>
              </a:lnSpc>
              <a:defRPr sz="750">
                <a:solidFill>
                  <a:srgbClr val="0F172A"/>
                </a:solidFill>
              </a:defRPr>
            </a:pPr>
            <a:r>
              <a:rPr sz="1050"/>
              <a:t>QAOA algorithm on IBM Quantum Heron finding global Pareto-minimum speed schedule in &lt;850ms.</a:t>
            </a:r>
          </a:p>
        </p:txBody>
      </p:sp>
      <p:sp>
        <p:nvSpPr>
          <p:cNvPr id="17432" name="Oval 17431"/>
          <p:cNvSpPr/>
          <p:nvPr/>
        </p:nvSpPr>
        <p:spPr>
          <a:xfrm>
            <a:off x="7406640" y="3401568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100"/>
              <a:t>3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863840" y="3310128"/>
            <a:ext cx="393192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rPr sz="1100"/>
              <a:t>WEATHER-AWARE DYNAMIC ROUTING</a:t>
            </a:r>
          </a:p>
          <a:p>
            <a:pPr>
              <a:lnSpc>
                <a:spcPct val="105000"/>
              </a:lnSpc>
              <a:defRPr sz="750">
                <a:solidFill>
                  <a:srgbClr val="0F172A"/>
                </a:solidFill>
              </a:defRPr>
            </a:pPr>
            <a:r>
              <a:rPr sz="1050"/>
              <a:t>Live Copernicus currents &amp; wave swell avoidance with direct NMEA 0183 ($ECWPL) bridge export.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7406640" y="4187952"/>
            <a:ext cx="365760" cy="36576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100"/>
              <a:t>4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7863840" y="4096512"/>
            <a:ext cx="393192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850" b="1">
                <a:solidFill>
                  <a:srgbClr val="1D4ED8"/>
                </a:solidFill>
              </a:defRPr>
            </a:pPr>
            <a:r>
              <a:rPr sz="1100"/>
              <a:t>DUAL-FUEL RETROFIT &amp; ARBITRAGE</a:t>
            </a:r>
          </a:p>
          <a:p>
            <a:pPr>
              <a:lnSpc>
                <a:spcPct val="105000"/>
              </a:lnSpc>
              <a:defRPr sz="750">
                <a:solidFill>
                  <a:srgbClr val="0F172A"/>
                </a:solidFill>
              </a:defRPr>
            </a:pPr>
            <a:r>
              <a:rPr sz="1050"/>
              <a:t>15-year DCF converter (Green Methanol/LNG) and global bunker port price arbitrage.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7406640" y="497433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100"/>
              <a:t>5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863840" y="4882896"/>
            <a:ext cx="393192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rPr sz="1100"/>
              <a:t>GLOBAL MARITIME COMPLIANCE</a:t>
            </a:r>
          </a:p>
          <a:p>
            <a:pPr>
              <a:lnSpc>
                <a:spcPct val="105000"/>
              </a:lnSpc>
              <a:defRPr sz="750">
                <a:solidFill>
                  <a:srgbClr val="0F172A"/>
                </a:solidFill>
              </a:defRPr>
            </a:pPr>
            <a:r>
              <a:rPr sz="1050"/>
              <a:t>Automated IMO DCS / EU MRV XML generation with SHA-256 cryptographic audit stamps.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EE3789B9-CDC6-83DA-2AD9-5FE4759E3D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135841" cy="4458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TeamBuilders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89556" y="286119"/>
            <a:ext cx="8097444" cy="503553"/>
          </a:xfrm>
        </p:spPr>
        <p:txBody>
          <a:bodyPr/>
          <a:lstStyle/>
          <a:p>
            <a:pPr>
              <a:defRPr sz="1800" b="1">
                <a:solidFill>
                  <a:srgbClr val="1D4ED8"/>
                </a:solidFill>
              </a:defRPr>
            </a:pPr>
            <a:r>
              <a:rPr sz="2400" dirty="0"/>
              <a:t>RESEARCH</a:t>
            </a:r>
            <a:r>
              <a:rPr lang="en-IN" sz="2400" dirty="0"/>
              <a:t>,</a:t>
            </a:r>
            <a:r>
              <a:rPr sz="2400" dirty="0"/>
              <a:t> REFERENCES</a:t>
            </a:r>
            <a:r>
              <a:rPr lang="en-IN" sz="2400" dirty="0"/>
              <a:t> AND NOVALITY</a:t>
            </a:r>
            <a:endParaRPr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TEAMBUILDERS | SMART INDIA HACKTON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-222977" y="926194"/>
            <a:ext cx="36118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rPr dirty="0"/>
              <a:t>MAPS SHOWING OCEAN CURRENTS &amp; AIS</a:t>
            </a:r>
          </a:p>
        </p:txBody>
      </p:sp>
      <p:pic>
        <p:nvPicPr>
          <p:cNvPr id="17411" name="Picture 17410" descr="command_ce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1287282"/>
            <a:ext cx="2584877" cy="1635998"/>
          </a:xfrm>
          <a:prstGeom prst="rect">
            <a:avLst/>
          </a:prstGeom>
        </p:spPr>
      </p:pic>
      <p:sp>
        <p:nvSpPr>
          <p:cNvPr id="17412" name="Rectangle 17411"/>
          <p:cNvSpPr/>
          <p:nvPr/>
        </p:nvSpPr>
        <p:spPr>
          <a:xfrm>
            <a:off x="2638320" y="942169"/>
            <a:ext cx="36118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rPr dirty="0"/>
              <a:t>156-QUBIT QUANTUM VOYAGE OPTIMIZER</a:t>
            </a:r>
          </a:p>
        </p:txBody>
      </p:sp>
      <p:pic>
        <p:nvPicPr>
          <p:cNvPr id="17413" name="Picture 17412" descr="voyage_optimiz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548" y="1202352"/>
            <a:ext cx="2719066" cy="1720928"/>
          </a:xfrm>
          <a:prstGeom prst="rect">
            <a:avLst/>
          </a:prstGeom>
        </p:spPr>
      </p:pic>
      <p:sp>
        <p:nvSpPr>
          <p:cNvPr id="17416" name="Rectangle 17415"/>
          <p:cNvSpPr/>
          <p:nvPr/>
        </p:nvSpPr>
        <p:spPr>
          <a:xfrm>
            <a:off x="215334" y="3094863"/>
            <a:ext cx="5622130" cy="28941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</a:rPr>
              <a:t>1. IMO RESOLUTION MEPC.352(78):-  </a:t>
            </a:r>
            <a:r>
              <a:rPr sz="1400" b="1" u="sng" dirty="0">
                <a:solidFill>
                  <a:srgbClr val="1D4ED8"/>
                </a:solidFill>
              </a:rPr>
              <a:t>https://www.imo.org</a:t>
            </a:r>
            <a:r>
              <a:rPr sz="1100" b="0" dirty="0">
                <a:solidFill>
                  <a:srgbClr val="64748B"/>
                </a:solidFill>
              </a:rPr>
              <a:t> (2022 Guidelines on Operational Carbon Intensity Indicator Calculation &amp; Baseline Lines)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</a:rPr>
              <a:t>2. COPERNICUS MARINE CMEMS:-  </a:t>
            </a:r>
            <a:r>
              <a:rPr sz="1400" b="1" u="sng" dirty="0">
                <a:solidFill>
                  <a:srgbClr val="1D4ED8"/>
                </a:solidFill>
              </a:rPr>
              <a:t>https://marine.copernicus.eu</a:t>
            </a:r>
            <a:r>
              <a:rPr sz="1100" b="0" dirty="0">
                <a:solidFill>
                  <a:srgbClr val="64748B"/>
                </a:solidFill>
              </a:rPr>
              <a:t> (Global Ocean Physical Analysis, 1/12° Surface Current Velocity Grids)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</a:rPr>
              <a:t>3. EU MRV &amp; FUEL-EU MARITIME:-  </a:t>
            </a:r>
            <a:r>
              <a:rPr sz="1400" b="1" u="sng" dirty="0">
                <a:solidFill>
                  <a:srgbClr val="1D4ED8"/>
                </a:solidFill>
              </a:rPr>
              <a:t>https://emsa.europa.eu</a:t>
            </a:r>
            <a:r>
              <a:rPr sz="1100" b="0" dirty="0">
                <a:solidFill>
                  <a:srgbClr val="64748B"/>
                </a:solidFill>
              </a:rPr>
              <a:t> (Regulation (EU) 2015/757 &amp; Directive 2023/1805 Well-to-Wake Greenhouse Gas Emissions)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dirty="0">
                <a:solidFill>
                  <a:srgbClr val="0F172A"/>
                </a:solidFill>
              </a:rPr>
              <a:t>4. HOLTROP &amp; MENNEN (1982):-  </a:t>
            </a:r>
            <a:r>
              <a:rPr sz="1400" b="1" u="sng" dirty="0">
                <a:solidFill>
                  <a:srgbClr val="1D4ED8"/>
                </a:solidFill>
              </a:rPr>
              <a:t>https://www.sciencedirect.com</a:t>
            </a:r>
            <a:r>
              <a:rPr sz="1100" b="0" dirty="0">
                <a:solidFill>
                  <a:srgbClr val="64748B"/>
                </a:solidFill>
              </a:rPr>
              <a:t> (An Approximate Power Prediction Method for Ships - Hydrodynamic Friction &amp; Wave Drag)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B873C54A-BE12-0246-BCB0-46A1273FCF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135841" cy="4458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dirty="0" err="1"/>
              <a:t>TeamBuilders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45970-B692-9836-2205-A0256494F0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700" b="5431"/>
          <a:stretch/>
        </p:blipFill>
        <p:spPr>
          <a:xfrm>
            <a:off x="6196930" y="1702730"/>
            <a:ext cx="5779736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7517</TotalTime>
  <Words>757</Words>
  <Application>Microsoft Office PowerPoint</Application>
  <PresentationFormat>Widescreen</PresentationFormat>
  <Paragraphs>92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GreenFleet Quantum — Team: TeamBuilders</vt:lpstr>
      <vt:lpstr>GreenFleet Quantum: Maritime Decarbonization &amp; Voyage Optimization</vt:lpstr>
      <vt:lpstr>TECHNICAL APPROACH &amp; SYSTEM ARCHITECTURE</vt:lpstr>
      <vt:lpstr>FEASIBILITY AND VIABILITY</vt:lpstr>
      <vt:lpstr>IMPACT AND BENEFITS</vt:lpstr>
      <vt:lpstr>RESEARCH, REFERENCES AND NOVALITY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Adabala Venkata Thrinadh</cp:lastModifiedBy>
  <cp:revision>149</cp:revision>
  <dcterms:created xsi:type="dcterms:W3CDTF">2013-12-12T18:46:50Z</dcterms:created>
  <dcterms:modified xsi:type="dcterms:W3CDTF">2026-09-07T19:50:02Z</dcterms:modified>
  <cp:category/>
</cp:coreProperties>
</file>